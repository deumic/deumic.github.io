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11"/>
  </p:notesMasterIdLst>
  <p:sldIdLst>
    <p:sldId id="275" r:id="rId2"/>
    <p:sldId id="276" r:id="rId3"/>
    <p:sldId id="277" r:id="rId4"/>
    <p:sldId id="278" r:id="rId5"/>
    <p:sldId id="279" r:id="rId6"/>
    <p:sldId id="280" r:id="rId7"/>
    <p:sldId id="281" r:id="rId8"/>
    <p:sldId id="282" r:id="rId9"/>
    <p:sldId id="283" r:id="rId10"/>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E15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04"/>
    <p:restoredTop sz="94633"/>
  </p:normalViewPr>
  <p:slideViewPr>
    <p:cSldViewPr snapToGrid="0">
      <p:cViewPr varScale="1">
        <p:scale>
          <a:sx n="141" d="100"/>
          <a:sy n="141" d="100"/>
        </p:scale>
        <p:origin x="224" y="1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C3624D-2391-8243-A44B-7CDDDA1F0D37}" type="datetimeFigureOut">
              <a:rPr lang="de-DE" smtClean="0"/>
              <a:t>17.04.26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6D9A54-9706-4842-8404-4481292B187D}" type="slidenum">
              <a:rPr lang="de-DE" smtClean="0"/>
              <a:t>‹Nr.›</a:t>
            </a:fld>
            <a:endParaRPr lang="de-DE"/>
          </a:p>
        </p:txBody>
      </p:sp>
    </p:spTree>
    <p:extLst>
      <p:ext uri="{BB962C8B-B14F-4D97-AF65-F5344CB8AC3E}">
        <p14:creationId xmlns:p14="http://schemas.microsoft.com/office/powerpoint/2010/main" val="214933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Willkommen zur Präsentation der EI2 Management GmbH. Wir sind spezialisiert auf KI-Beratung und Inkubation – von der ersten Idee bis zum skalierbaren Unternehmen. In den folgenden Folien stellen wir Ihnen unser Unternehmen, unsere Leistungen und unseren Ansatz vor.</a:t>
            </a:r>
          </a:p>
        </p:txBody>
      </p:sp>
      <p:sp>
        <p:nvSpPr>
          <p:cNvPr id="4" name="Slide Number Placeholder 3"/>
          <p:cNvSpPr>
            <a:spLocks noGrp="1"/>
          </p:cNvSpPr>
          <p:nvPr>
            <p:ph type="sldNum" sz="quarter" idx="10"/>
          </p:nvPr>
        </p:nvSpPr>
        <p:spPr/>
        <p:txBody>
          <a:bodyPr/>
          <a:lstStyle/>
          <a:p>
            <a:fld id="{B6F15528-F159-4107-2D80-6FF3FECA511D}" type="slidenum">
              <a:rPr lang="de-DE" smtClean="0"/>
              <a:t>1</a:t>
            </a:fld>
            <a:endParaRPr lang="de-D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Die Ecopolis Incubator Initiative, kurz EI², wurde 2016 gegründet mit dem Ziel, innovative Geschäftsideen zu fördern, die einen positiven Beitrag zur nachhaltigen Entwicklung der Gesellschaft leisten. Unsere Mission ist es, KI-basierte Softwarelösungen zu entwerfen, Prototypen zu bauen, Innovationen bis zur Marktreife zu begleiten und Unternehmen aufzubauen – persönlich, präzise und ergebnisorientiert. Seit unserer Gründung haben wir 11 Startups betreut, einen erfolgreichen Exit begleitet und arbeiten mit einem Netzwerk von 9 Mitwirkenden. Unsere Expertise umfasst sowohl den technischen Bereich – mit Fokus auf Agentic AI, Multi-Agenten-Systeme und MVP-Entwicklung – als auch den Business-Bereich mit Produktmanagement, Markteinführungsstrategien und Unternehmensstrukturierung.</a:t>
            </a:r>
          </a:p>
        </p:txBody>
      </p:sp>
      <p:sp>
        <p:nvSpPr>
          <p:cNvPr id="4" name="Slide Number Placeholder 3"/>
          <p:cNvSpPr>
            <a:spLocks noGrp="1"/>
          </p:cNvSpPr>
          <p:nvPr>
            <p:ph type="sldNum" sz="quarter" idx="10"/>
          </p:nvPr>
        </p:nvSpPr>
        <p:spPr/>
        <p:txBody>
          <a:bodyPr/>
          <a:lstStyle/>
          <a:p>
            <a:fld id="{B6F15528-F159-4107-2D80-6FF3FECA511E}" type="slidenum">
              <a:rPr lang="de-DE" smtClean="0"/>
              <a:t>2</a:t>
            </a:fld>
            <a:endParaRPr lang="de-D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Auf dieser Folie sehen Sie eine Übersicht unserer vier Kernleistungen. Erstens: Die KI-Strategieberatung – hier schaffen wir Klarheit, analysieren Ihre Prozesse und entwickeln eine umsetzbare KI-Roadmap mit priorisierten Use Cases. Zweitens: Software-Prototyping – wir bringen Konzepte in wenigen Wochen zum lauffähigen Code und liefern funktionierende MVPs und Proof-of-Concepts. Drittens: Go-to-Market Beratung – denn Technologie allein gewinnt keinen Markt. Wir begleiten Sie von der Idee bis zum Market-Prove mit Positionierung, Business Model und Launch-Strategie. Viertens: Unternehmensaufbau – wir helfen beim Aufbau flexibler Strukturen für nachhaltiges Wachstum, vom Vertrieb über Partnerschaften bis zur Produktentwicklung. All diese Leistungen sind Teil unseres übergreifenden Inkubationsprogramms.</a:t>
            </a:r>
          </a:p>
        </p:txBody>
      </p:sp>
      <p:sp>
        <p:nvSpPr>
          <p:cNvPr id="4" name="Slide Number Placeholder 3"/>
          <p:cNvSpPr>
            <a:spLocks noGrp="1"/>
          </p:cNvSpPr>
          <p:nvPr>
            <p:ph type="sldNum" sz="quarter" idx="10"/>
          </p:nvPr>
        </p:nvSpPr>
        <p:spPr/>
        <p:txBody>
          <a:bodyPr/>
          <a:lstStyle/>
          <a:p>
            <a:fld id="{B6F15528-F159-4107-2D80-6FF3FECA5120}" type="slidenum">
              <a:rPr lang="de-DE" smtClean="0"/>
              <a:t>3</a:t>
            </a:fld>
            <a:endParaRPr lang="de-D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Auf dieser Folie vertiefen wir unsere KI-Strategieberatung. Unser Motto: Klarheit vor Komplexität – kein Buzzword-Bingo, sondern lösungszentrierte Strategie. Der Prozess gliedert sich in vier Schritte: Erstens die Potenzialanalyse – hier identifizieren wir KI-Anwendungsfelder in Ihren bestehenden Prozessen. Zweitens die Machbarkeitsbewertung – eine technische und wirtschaftliche Prüfung der identifizierten Use Cases. Drittens das Use-Case Design – die Exploration konkreter Anwendungsszenarien als Grundlage für das Prototyping. Und viertens die Features und Roadmap – ein MVP Feature-Plan mit klaren Prioritäten, Meilensteinen und KPIs. Am Ende erhalten Sie eine umsetzbare KI-Roadmap mit priorisierten Use Cases, Aufwandsschätzungen im T-Shirt-Size-Format und einer klaren Architekturempfehlung – inklusive einer ausführlichen Produkt-Strategie mit ROI-Prognose.</a:t>
            </a:r>
          </a:p>
        </p:txBody>
      </p:sp>
      <p:sp>
        <p:nvSpPr>
          <p:cNvPr id="4" name="Slide Number Placeholder 3"/>
          <p:cNvSpPr>
            <a:spLocks noGrp="1"/>
          </p:cNvSpPr>
          <p:nvPr>
            <p:ph type="sldNum" sz="quarter" idx="10"/>
          </p:nvPr>
        </p:nvSpPr>
        <p:spPr/>
        <p:txBody>
          <a:bodyPr/>
          <a:lstStyle/>
          <a:p>
            <a:fld id="{B6F15528-0001-4107-2D80-6FF3FECA5120}" type="slidenum">
              <a:rPr lang="de-DE" smtClean="0"/>
              <a:t>4</a:t>
            </a:fld>
            <a:endParaRPr lang="de-D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Hier stellen wir unsere Go-to-Market Beratung im Detail vor. Unser Leitgedanke: Technologie allein gewinnt keinen Markt – wir bringen Ihre Innovation zum Kunden. Der Prozess umfasst vier Phasen: Erstens Markt und Positionierung – mit Zielgruppenanalyse, Wettbewerbspositionierung und Erarbeitung einer klaren Value Proposition. Zweitens das Business Model – Geschäftsmodell-Design, Pricing-Strategie und Definition der Revenue Streams. Drittens die Launch-Strategie – ein konkreter Go-to-Market-Plan mit Kanal-Strategie und ersten Maßnahmen zur Kundenakquise. Und viertens der Market-Prove – Durchführung von Demos, Trials und Proof-of-Concepts mit messbarem ROI-Nachweis. Das Ergebnis ist eine marktreife Strategie mit validiertem Business Model, Launch-Plan und ersten Kundenreferenzen – zusammengefasst in einem Go-to-Market Playbook mit konkreten Maßnahmen und Zeitplan für die Skalierung.</a:t>
            </a:r>
          </a:p>
        </p:txBody>
      </p:sp>
      <p:sp>
        <p:nvSpPr>
          <p:cNvPr id="4" name="Slide Number Placeholder 3"/>
          <p:cNvSpPr>
            <a:spLocks noGrp="1"/>
          </p:cNvSpPr>
          <p:nvPr>
            <p:ph type="sldNum" sz="quarter" idx="10"/>
          </p:nvPr>
        </p:nvSpPr>
        <p:spPr/>
        <p:txBody>
          <a:bodyPr/>
          <a:lstStyle/>
          <a:p>
            <a:fld id="{B6F15528-0002-4107-2D80-6FF3FECA5120}" type="slidenum">
              <a:rPr lang="de-DE" smtClean="0"/>
              <a:t>5</a:t>
            </a:fld>
            <a:endParaRPr lang="de-D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FC6D9A54-9706-4842-8404-4481292B187D}" type="slidenum">
              <a:rPr lang="de-DE" smtClean="0"/>
              <a:t>6</a:t>
            </a:fld>
            <a:endParaRPr lang="de-DE"/>
          </a:p>
        </p:txBody>
      </p:sp>
    </p:spTree>
    <p:extLst>
      <p:ext uri="{BB962C8B-B14F-4D97-AF65-F5344CB8AC3E}">
        <p14:creationId xmlns:p14="http://schemas.microsoft.com/office/powerpoint/2010/main" val="31460212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Auf dieser Folie präsentieren wir unseren Unternehmensaufbau-Service. Unser Ansatz: Von der Idee zur funktionierenden Organisation – strukturiert, skalierbar, zukunftssicher. Wir decken vier zentrale Bereiche ab: Erstens das Gründungs-Framework – Rechtsform, Gesellschafterstruktur und regulatorische Grundlagen. Zweitens Team und Organisation – Rollenprofile, Hiring-Strategie und agile Teamstrukturen. Drittens Prozesse und Tooling – Definition der Kernprozesse, Auswahl des Tech-Stacks und Automatisierung für effiziente Abläufe. Und viertens Finanzierung und Controlling – Finanzplanung, Investorensuche und KPI-basiertes Reporting. Das Ergebnis ist ein vollständiges Company-Setup mit klarer Organisationsstruktur, definierten Prozessen und einer Finanzierungs-Roadmap. Sie erhalten ein Operating Model inklusive Management-Framework für nachhaltiges Wachstum.</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Zum Abschluss möchten wir nochmals zusammenfassen: Unser Ziel ist es, Sie von der ersten Idee bis zum funktionierenden Unternehmen zu begleiten. Ob KI-Strategie, Software-Prototyping, Go-to-Market oder Unternehmensaufbau – wir bieten Ihnen einen ganzheitlichen Ansatz aus einer Hand. Wir freuen uns auf den Austausch mit Ihnen und stehen für ein kostenloses Erstgespräch jederzeit zur Verfügung. Besuchen Sie uns unter ei2.group.</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Auf dieser letzten Folie finden Sie eine Übersicht unserer Kosten und Aufwände für die verschiedenen Leistungspakete. Alle genannten Preise verstehen sich zuzüglich Mehrwertsteuer. Wir erstellen gerne ein individuelles Angebot nach einem kostenlosen Erstgespräch, in dem wir Ihren konkreten Bedarf und Projektumfang besprechen. Kontaktieren Sie uns über ei2.group – wir freuen uns auf Ihre Anfrage.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B57593-DC13-253F-09CE-102A7281D328}"/>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B2930C2B-23B5-AC7F-24F6-34823C9D5522}"/>
              </a:ext>
            </a:extLst>
          </p:cNvPr>
          <p:cNvSpPr>
            <a:spLocks noGrp="1"/>
          </p:cNvSpPr>
          <p:nvPr>
            <p:ph type="subTitle" idx="1"/>
          </p:nvPr>
        </p:nvSpPr>
        <p:spPr>
          <a:xfrm>
            <a:off x="1524000" y="3602038"/>
            <a:ext cx="9144000" cy="51660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7519BAEF-3033-FAE5-0A26-39E5446FF0CD}"/>
              </a:ext>
            </a:extLst>
          </p:cNvPr>
          <p:cNvSpPr>
            <a:spLocks noGrp="1"/>
          </p:cNvSpPr>
          <p:nvPr>
            <p:ph type="dt" sz="half" idx="10"/>
          </p:nvPr>
        </p:nvSpPr>
        <p:spPr/>
        <p:txBody>
          <a:bodyPr/>
          <a:lstStyle/>
          <a:p>
            <a:fld id="{5D264D0E-6C8F-624B-AFD8-F474CA3871F9}" type="datetimeFigureOut">
              <a:rPr lang="de-DE" smtClean="0"/>
              <a:t>17.04.26</a:t>
            </a:fld>
            <a:endParaRPr lang="de-DE"/>
          </a:p>
        </p:txBody>
      </p:sp>
      <p:sp>
        <p:nvSpPr>
          <p:cNvPr id="5" name="Fußzeilenplatzhalter 4">
            <a:extLst>
              <a:ext uri="{FF2B5EF4-FFF2-40B4-BE49-F238E27FC236}">
                <a16:creationId xmlns:a16="http://schemas.microsoft.com/office/drawing/2014/main" id="{CB2CA751-60DD-5914-C4B8-642DCCB0B7CE}"/>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B6E1156-6EF5-5447-D723-32507108036C}"/>
              </a:ext>
            </a:extLst>
          </p:cNvPr>
          <p:cNvSpPr>
            <a:spLocks noGrp="1"/>
          </p:cNvSpPr>
          <p:nvPr>
            <p:ph type="sldNum" sz="quarter" idx="12"/>
          </p:nvPr>
        </p:nvSpPr>
        <p:spPr/>
        <p:txBody>
          <a:bodyPr/>
          <a:lstStyle/>
          <a:p>
            <a:fld id="{E81B93F8-CDE4-2742-8648-125D6FB6D6A7}" type="slidenum">
              <a:rPr lang="de-DE" smtClean="0"/>
              <a:t>‹Nr.›</a:t>
            </a:fld>
            <a:endParaRPr lang="de-DE"/>
          </a:p>
        </p:txBody>
      </p:sp>
    </p:spTree>
    <p:extLst>
      <p:ext uri="{BB962C8B-B14F-4D97-AF65-F5344CB8AC3E}">
        <p14:creationId xmlns:p14="http://schemas.microsoft.com/office/powerpoint/2010/main" val="2801269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4B2ADF9-3747-7B91-6780-9A8A90B2D0FD}"/>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38111C95-C0C0-4475-213D-8DFF111472FE}"/>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91E6F9E1-AA60-3FB0-2D80-C5EFE2364B4F}"/>
              </a:ext>
            </a:extLst>
          </p:cNvPr>
          <p:cNvSpPr>
            <a:spLocks noGrp="1"/>
          </p:cNvSpPr>
          <p:nvPr>
            <p:ph type="dt" sz="half" idx="10"/>
          </p:nvPr>
        </p:nvSpPr>
        <p:spPr/>
        <p:txBody>
          <a:bodyPr/>
          <a:lstStyle/>
          <a:p>
            <a:fld id="{5D264D0E-6C8F-624B-AFD8-F474CA3871F9}" type="datetimeFigureOut">
              <a:rPr lang="de-DE" smtClean="0"/>
              <a:t>17.04.26</a:t>
            </a:fld>
            <a:endParaRPr lang="de-DE"/>
          </a:p>
        </p:txBody>
      </p:sp>
      <p:sp>
        <p:nvSpPr>
          <p:cNvPr id="5" name="Fußzeilenplatzhalter 4">
            <a:extLst>
              <a:ext uri="{FF2B5EF4-FFF2-40B4-BE49-F238E27FC236}">
                <a16:creationId xmlns:a16="http://schemas.microsoft.com/office/drawing/2014/main" id="{D306F533-911D-98C6-4F30-1727EF8BA50E}"/>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15415970-62DB-7F5D-3484-7EC9536A89CC}"/>
              </a:ext>
            </a:extLst>
          </p:cNvPr>
          <p:cNvSpPr>
            <a:spLocks noGrp="1"/>
          </p:cNvSpPr>
          <p:nvPr>
            <p:ph type="sldNum" sz="quarter" idx="12"/>
          </p:nvPr>
        </p:nvSpPr>
        <p:spPr/>
        <p:txBody>
          <a:bodyPr/>
          <a:lstStyle/>
          <a:p>
            <a:fld id="{E81B93F8-CDE4-2742-8648-125D6FB6D6A7}" type="slidenum">
              <a:rPr lang="de-DE" smtClean="0"/>
              <a:t>‹Nr.›</a:t>
            </a:fld>
            <a:endParaRPr lang="de-DE"/>
          </a:p>
        </p:txBody>
      </p:sp>
    </p:spTree>
    <p:extLst>
      <p:ext uri="{BB962C8B-B14F-4D97-AF65-F5344CB8AC3E}">
        <p14:creationId xmlns:p14="http://schemas.microsoft.com/office/powerpoint/2010/main" val="1970488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422089-A2F1-B793-A28C-BA0177F7B8F7}"/>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34777EB1-E175-98F7-2240-C65F69C2560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64D63406-4CC6-54B2-842B-F92C0AE072FA}"/>
              </a:ext>
            </a:extLst>
          </p:cNvPr>
          <p:cNvSpPr>
            <a:spLocks noGrp="1"/>
          </p:cNvSpPr>
          <p:nvPr>
            <p:ph type="dt" sz="half" idx="10"/>
          </p:nvPr>
        </p:nvSpPr>
        <p:spPr/>
        <p:txBody>
          <a:bodyPr/>
          <a:lstStyle/>
          <a:p>
            <a:fld id="{5D264D0E-6C8F-624B-AFD8-F474CA3871F9}" type="datetimeFigureOut">
              <a:rPr lang="de-DE" smtClean="0"/>
              <a:t>17.04.26</a:t>
            </a:fld>
            <a:endParaRPr lang="de-DE"/>
          </a:p>
        </p:txBody>
      </p:sp>
      <p:sp>
        <p:nvSpPr>
          <p:cNvPr id="5" name="Fußzeilenplatzhalter 4">
            <a:extLst>
              <a:ext uri="{FF2B5EF4-FFF2-40B4-BE49-F238E27FC236}">
                <a16:creationId xmlns:a16="http://schemas.microsoft.com/office/drawing/2014/main" id="{5D30DBC6-FB74-FC05-FBC8-D9A50BD5A6A5}"/>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EF250F78-F5B8-D764-C1D1-377CDFE83EDB}"/>
              </a:ext>
            </a:extLst>
          </p:cNvPr>
          <p:cNvSpPr>
            <a:spLocks noGrp="1"/>
          </p:cNvSpPr>
          <p:nvPr>
            <p:ph type="sldNum" sz="quarter" idx="12"/>
          </p:nvPr>
        </p:nvSpPr>
        <p:spPr/>
        <p:txBody>
          <a:bodyPr/>
          <a:lstStyle/>
          <a:p>
            <a:fld id="{E81B93F8-CDE4-2742-8648-125D6FB6D6A7}" type="slidenum">
              <a:rPr lang="de-DE" smtClean="0"/>
              <a:t>‹Nr.›</a:t>
            </a:fld>
            <a:endParaRPr lang="de-DE"/>
          </a:p>
        </p:txBody>
      </p:sp>
    </p:spTree>
    <p:extLst>
      <p:ext uri="{BB962C8B-B14F-4D97-AF65-F5344CB8AC3E}">
        <p14:creationId xmlns:p14="http://schemas.microsoft.com/office/powerpoint/2010/main" val="2441017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40731AE-58DD-FBE9-338D-E8EDA0175052}"/>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C7DC0EB4-8E7E-D7FB-F29B-30A59074A9C4}"/>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A48CE49D-6968-5830-9EA0-F4BDDE57284B}"/>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056CBDFC-ADF8-EAFB-E2C6-4C8086B2A73D}"/>
              </a:ext>
            </a:extLst>
          </p:cNvPr>
          <p:cNvSpPr>
            <a:spLocks noGrp="1"/>
          </p:cNvSpPr>
          <p:nvPr>
            <p:ph type="dt" sz="half" idx="10"/>
          </p:nvPr>
        </p:nvSpPr>
        <p:spPr/>
        <p:txBody>
          <a:bodyPr/>
          <a:lstStyle/>
          <a:p>
            <a:fld id="{5D264D0E-6C8F-624B-AFD8-F474CA3871F9}" type="datetimeFigureOut">
              <a:rPr lang="de-DE" smtClean="0"/>
              <a:t>17.04.26</a:t>
            </a:fld>
            <a:endParaRPr lang="de-DE"/>
          </a:p>
        </p:txBody>
      </p:sp>
      <p:sp>
        <p:nvSpPr>
          <p:cNvPr id="6" name="Fußzeilenplatzhalter 5">
            <a:extLst>
              <a:ext uri="{FF2B5EF4-FFF2-40B4-BE49-F238E27FC236}">
                <a16:creationId xmlns:a16="http://schemas.microsoft.com/office/drawing/2014/main" id="{CDF62F3E-29A7-189A-24A2-F3017CAFBBBD}"/>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E7BEB89A-E3BB-F344-2981-160A86916524}"/>
              </a:ext>
            </a:extLst>
          </p:cNvPr>
          <p:cNvSpPr>
            <a:spLocks noGrp="1"/>
          </p:cNvSpPr>
          <p:nvPr>
            <p:ph type="sldNum" sz="quarter" idx="12"/>
          </p:nvPr>
        </p:nvSpPr>
        <p:spPr/>
        <p:txBody>
          <a:bodyPr/>
          <a:lstStyle/>
          <a:p>
            <a:fld id="{E81B93F8-CDE4-2742-8648-125D6FB6D6A7}" type="slidenum">
              <a:rPr lang="de-DE" smtClean="0"/>
              <a:t>‹Nr.›</a:t>
            </a:fld>
            <a:endParaRPr lang="de-DE"/>
          </a:p>
        </p:txBody>
      </p:sp>
    </p:spTree>
    <p:extLst>
      <p:ext uri="{BB962C8B-B14F-4D97-AF65-F5344CB8AC3E}">
        <p14:creationId xmlns:p14="http://schemas.microsoft.com/office/powerpoint/2010/main" val="3821186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2F63BD-997F-5F8B-0EF6-3E690974D816}"/>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FC7217E6-6181-D96D-4553-F279161AAD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BD9D6A19-4753-4C1B-1B95-4C7873BDEF31}"/>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398C39D3-61C5-0AEC-E13C-BABC920B84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B6B01176-92C3-666E-049A-3F3C01B8C575}"/>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270EC55C-B561-BE5C-071E-4CEA7525C6B8}"/>
              </a:ext>
            </a:extLst>
          </p:cNvPr>
          <p:cNvSpPr>
            <a:spLocks noGrp="1"/>
          </p:cNvSpPr>
          <p:nvPr>
            <p:ph type="dt" sz="half" idx="10"/>
          </p:nvPr>
        </p:nvSpPr>
        <p:spPr/>
        <p:txBody>
          <a:bodyPr/>
          <a:lstStyle/>
          <a:p>
            <a:fld id="{5D264D0E-6C8F-624B-AFD8-F474CA3871F9}" type="datetimeFigureOut">
              <a:rPr lang="de-DE" smtClean="0"/>
              <a:t>17.04.26</a:t>
            </a:fld>
            <a:endParaRPr lang="de-DE"/>
          </a:p>
        </p:txBody>
      </p:sp>
      <p:sp>
        <p:nvSpPr>
          <p:cNvPr id="8" name="Fußzeilenplatzhalter 7">
            <a:extLst>
              <a:ext uri="{FF2B5EF4-FFF2-40B4-BE49-F238E27FC236}">
                <a16:creationId xmlns:a16="http://schemas.microsoft.com/office/drawing/2014/main" id="{F8F8B835-08CB-A4CF-8085-8DB76BA395D0}"/>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3F928776-FF67-3DE6-C31C-E91058FC8357}"/>
              </a:ext>
            </a:extLst>
          </p:cNvPr>
          <p:cNvSpPr>
            <a:spLocks noGrp="1"/>
          </p:cNvSpPr>
          <p:nvPr>
            <p:ph type="sldNum" sz="quarter" idx="12"/>
          </p:nvPr>
        </p:nvSpPr>
        <p:spPr/>
        <p:txBody>
          <a:bodyPr/>
          <a:lstStyle/>
          <a:p>
            <a:fld id="{E81B93F8-CDE4-2742-8648-125D6FB6D6A7}" type="slidenum">
              <a:rPr lang="de-DE" smtClean="0"/>
              <a:t>‹Nr.›</a:t>
            </a:fld>
            <a:endParaRPr lang="de-DE"/>
          </a:p>
        </p:txBody>
      </p:sp>
    </p:spTree>
    <p:extLst>
      <p:ext uri="{BB962C8B-B14F-4D97-AF65-F5344CB8AC3E}">
        <p14:creationId xmlns:p14="http://schemas.microsoft.com/office/powerpoint/2010/main" val="19676501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0E2707-3678-F15B-CB9A-4C856AE860E3}"/>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D950844D-1F80-4D10-A165-C3CD3293C567}"/>
              </a:ext>
            </a:extLst>
          </p:cNvPr>
          <p:cNvSpPr>
            <a:spLocks noGrp="1"/>
          </p:cNvSpPr>
          <p:nvPr>
            <p:ph type="dt" sz="half" idx="10"/>
          </p:nvPr>
        </p:nvSpPr>
        <p:spPr/>
        <p:txBody>
          <a:bodyPr/>
          <a:lstStyle/>
          <a:p>
            <a:fld id="{5D264D0E-6C8F-624B-AFD8-F474CA3871F9}" type="datetimeFigureOut">
              <a:rPr lang="de-DE" smtClean="0"/>
              <a:t>17.04.26</a:t>
            </a:fld>
            <a:endParaRPr lang="de-DE"/>
          </a:p>
        </p:txBody>
      </p:sp>
      <p:sp>
        <p:nvSpPr>
          <p:cNvPr id="4" name="Fußzeilenplatzhalter 3">
            <a:extLst>
              <a:ext uri="{FF2B5EF4-FFF2-40B4-BE49-F238E27FC236}">
                <a16:creationId xmlns:a16="http://schemas.microsoft.com/office/drawing/2014/main" id="{72FB541B-5D72-1089-CC96-1B699FBE0CD9}"/>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9E2CA3CF-218F-99AC-EFF0-4CFAF8367FE5}"/>
              </a:ext>
            </a:extLst>
          </p:cNvPr>
          <p:cNvSpPr>
            <a:spLocks noGrp="1"/>
          </p:cNvSpPr>
          <p:nvPr>
            <p:ph type="sldNum" sz="quarter" idx="12"/>
          </p:nvPr>
        </p:nvSpPr>
        <p:spPr/>
        <p:txBody>
          <a:bodyPr/>
          <a:lstStyle/>
          <a:p>
            <a:fld id="{E81B93F8-CDE4-2742-8648-125D6FB6D6A7}" type="slidenum">
              <a:rPr lang="de-DE" smtClean="0"/>
              <a:t>‹Nr.›</a:t>
            </a:fld>
            <a:endParaRPr lang="de-DE"/>
          </a:p>
        </p:txBody>
      </p:sp>
    </p:spTree>
    <p:extLst>
      <p:ext uri="{BB962C8B-B14F-4D97-AF65-F5344CB8AC3E}">
        <p14:creationId xmlns:p14="http://schemas.microsoft.com/office/powerpoint/2010/main" val="3197745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5BF6772A-95BF-BB1D-4793-6DF2D2BF6B96}"/>
              </a:ext>
            </a:extLst>
          </p:cNvPr>
          <p:cNvSpPr>
            <a:spLocks noGrp="1"/>
          </p:cNvSpPr>
          <p:nvPr>
            <p:ph type="dt" sz="half" idx="10"/>
          </p:nvPr>
        </p:nvSpPr>
        <p:spPr/>
        <p:txBody>
          <a:bodyPr/>
          <a:lstStyle/>
          <a:p>
            <a:fld id="{5D264D0E-6C8F-624B-AFD8-F474CA3871F9}" type="datetimeFigureOut">
              <a:rPr lang="de-DE" smtClean="0"/>
              <a:t>17.04.26</a:t>
            </a:fld>
            <a:endParaRPr lang="de-DE"/>
          </a:p>
        </p:txBody>
      </p:sp>
      <p:sp>
        <p:nvSpPr>
          <p:cNvPr id="3" name="Fußzeilenplatzhalter 2">
            <a:extLst>
              <a:ext uri="{FF2B5EF4-FFF2-40B4-BE49-F238E27FC236}">
                <a16:creationId xmlns:a16="http://schemas.microsoft.com/office/drawing/2014/main" id="{B38D6207-BD98-5382-71B8-B40AE5C17C16}"/>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E259D787-0E92-B1A0-00B2-F59F7D242FB5}"/>
              </a:ext>
            </a:extLst>
          </p:cNvPr>
          <p:cNvSpPr>
            <a:spLocks noGrp="1"/>
          </p:cNvSpPr>
          <p:nvPr>
            <p:ph type="sldNum" sz="quarter" idx="12"/>
          </p:nvPr>
        </p:nvSpPr>
        <p:spPr/>
        <p:txBody>
          <a:bodyPr/>
          <a:lstStyle/>
          <a:p>
            <a:fld id="{E81B93F8-CDE4-2742-8648-125D6FB6D6A7}" type="slidenum">
              <a:rPr lang="de-DE" smtClean="0"/>
              <a:t>‹Nr.›</a:t>
            </a:fld>
            <a:endParaRPr lang="de-DE"/>
          </a:p>
        </p:txBody>
      </p:sp>
    </p:spTree>
    <p:extLst>
      <p:ext uri="{BB962C8B-B14F-4D97-AF65-F5344CB8AC3E}">
        <p14:creationId xmlns:p14="http://schemas.microsoft.com/office/powerpoint/2010/main" val="2790736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0DB749D-E65E-E763-5C15-7917D2C42FEE}"/>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3C0096EC-88EE-1AA0-AE4F-526344E0FE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421943E8-9F65-2988-9D32-50B746A1FD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31D214A6-8B22-420A-2711-903E8585691F}"/>
              </a:ext>
            </a:extLst>
          </p:cNvPr>
          <p:cNvSpPr>
            <a:spLocks noGrp="1"/>
          </p:cNvSpPr>
          <p:nvPr>
            <p:ph type="dt" sz="half" idx="10"/>
          </p:nvPr>
        </p:nvSpPr>
        <p:spPr/>
        <p:txBody>
          <a:bodyPr/>
          <a:lstStyle/>
          <a:p>
            <a:fld id="{5D264D0E-6C8F-624B-AFD8-F474CA3871F9}" type="datetimeFigureOut">
              <a:rPr lang="de-DE" smtClean="0"/>
              <a:t>17.04.26</a:t>
            </a:fld>
            <a:endParaRPr lang="de-DE"/>
          </a:p>
        </p:txBody>
      </p:sp>
      <p:sp>
        <p:nvSpPr>
          <p:cNvPr id="6" name="Fußzeilenplatzhalter 5">
            <a:extLst>
              <a:ext uri="{FF2B5EF4-FFF2-40B4-BE49-F238E27FC236}">
                <a16:creationId xmlns:a16="http://schemas.microsoft.com/office/drawing/2014/main" id="{BF06284B-8B06-B4E7-B219-313C95BC2072}"/>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5D597C04-634C-4371-FC1F-9CA64F1F4832}"/>
              </a:ext>
            </a:extLst>
          </p:cNvPr>
          <p:cNvSpPr>
            <a:spLocks noGrp="1"/>
          </p:cNvSpPr>
          <p:nvPr>
            <p:ph type="sldNum" sz="quarter" idx="12"/>
          </p:nvPr>
        </p:nvSpPr>
        <p:spPr/>
        <p:txBody>
          <a:bodyPr/>
          <a:lstStyle/>
          <a:p>
            <a:fld id="{E81B93F8-CDE4-2742-8648-125D6FB6D6A7}" type="slidenum">
              <a:rPr lang="de-DE" smtClean="0"/>
              <a:t>‹Nr.›</a:t>
            </a:fld>
            <a:endParaRPr lang="de-DE"/>
          </a:p>
        </p:txBody>
      </p:sp>
    </p:spTree>
    <p:extLst>
      <p:ext uri="{BB962C8B-B14F-4D97-AF65-F5344CB8AC3E}">
        <p14:creationId xmlns:p14="http://schemas.microsoft.com/office/powerpoint/2010/main" val="20313305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687D83-3D0B-8B20-B4EE-AC7C31B7DA82}"/>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53C62D07-64B9-A78D-65D2-EF33091119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033AD0D4-3604-1BE9-57C6-51B9389B4E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9D148D06-2EE3-901A-A25E-3822A15D317E}"/>
              </a:ext>
            </a:extLst>
          </p:cNvPr>
          <p:cNvSpPr>
            <a:spLocks noGrp="1"/>
          </p:cNvSpPr>
          <p:nvPr>
            <p:ph type="dt" sz="half" idx="10"/>
          </p:nvPr>
        </p:nvSpPr>
        <p:spPr/>
        <p:txBody>
          <a:bodyPr/>
          <a:lstStyle/>
          <a:p>
            <a:fld id="{5D264D0E-6C8F-624B-AFD8-F474CA3871F9}" type="datetimeFigureOut">
              <a:rPr lang="de-DE" smtClean="0"/>
              <a:t>17.04.26</a:t>
            </a:fld>
            <a:endParaRPr lang="de-DE"/>
          </a:p>
        </p:txBody>
      </p:sp>
      <p:sp>
        <p:nvSpPr>
          <p:cNvPr id="6" name="Fußzeilenplatzhalter 5">
            <a:extLst>
              <a:ext uri="{FF2B5EF4-FFF2-40B4-BE49-F238E27FC236}">
                <a16:creationId xmlns:a16="http://schemas.microsoft.com/office/drawing/2014/main" id="{D39BDDB8-D50E-FD3E-097E-44CD1852419E}"/>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DF33CB13-D6BD-3357-3E17-F1D11F7E14B1}"/>
              </a:ext>
            </a:extLst>
          </p:cNvPr>
          <p:cNvSpPr>
            <a:spLocks noGrp="1"/>
          </p:cNvSpPr>
          <p:nvPr>
            <p:ph type="sldNum" sz="quarter" idx="12"/>
          </p:nvPr>
        </p:nvSpPr>
        <p:spPr/>
        <p:txBody>
          <a:bodyPr/>
          <a:lstStyle/>
          <a:p>
            <a:fld id="{E81B93F8-CDE4-2742-8648-125D6FB6D6A7}" type="slidenum">
              <a:rPr lang="de-DE" smtClean="0"/>
              <a:t>‹Nr.›</a:t>
            </a:fld>
            <a:endParaRPr lang="de-DE"/>
          </a:p>
        </p:txBody>
      </p:sp>
    </p:spTree>
    <p:extLst>
      <p:ext uri="{BB962C8B-B14F-4D97-AF65-F5344CB8AC3E}">
        <p14:creationId xmlns:p14="http://schemas.microsoft.com/office/powerpoint/2010/main" val="3627517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C2EE33B-08A9-C342-1921-FA7A460395E7}"/>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3B85A2BB-8974-E7D0-CA82-017BD27B6353}"/>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2B6D8D38-DF2F-49FD-A83D-C377A47F72D3}"/>
              </a:ext>
            </a:extLst>
          </p:cNvPr>
          <p:cNvSpPr>
            <a:spLocks noGrp="1"/>
          </p:cNvSpPr>
          <p:nvPr>
            <p:ph type="dt" sz="half" idx="10"/>
          </p:nvPr>
        </p:nvSpPr>
        <p:spPr/>
        <p:txBody>
          <a:bodyPr/>
          <a:lstStyle/>
          <a:p>
            <a:fld id="{5D264D0E-6C8F-624B-AFD8-F474CA3871F9}" type="datetimeFigureOut">
              <a:rPr lang="de-DE" smtClean="0"/>
              <a:t>17.04.26</a:t>
            </a:fld>
            <a:endParaRPr lang="de-DE"/>
          </a:p>
        </p:txBody>
      </p:sp>
      <p:sp>
        <p:nvSpPr>
          <p:cNvPr id="5" name="Fußzeilenplatzhalter 4">
            <a:extLst>
              <a:ext uri="{FF2B5EF4-FFF2-40B4-BE49-F238E27FC236}">
                <a16:creationId xmlns:a16="http://schemas.microsoft.com/office/drawing/2014/main" id="{492E0869-B7DB-ACBC-8CF6-9ADDE872F42B}"/>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CFCE2FB1-F464-650C-817A-D9ADE5018995}"/>
              </a:ext>
            </a:extLst>
          </p:cNvPr>
          <p:cNvSpPr>
            <a:spLocks noGrp="1"/>
          </p:cNvSpPr>
          <p:nvPr>
            <p:ph type="sldNum" sz="quarter" idx="12"/>
          </p:nvPr>
        </p:nvSpPr>
        <p:spPr/>
        <p:txBody>
          <a:bodyPr/>
          <a:lstStyle/>
          <a:p>
            <a:fld id="{E81B93F8-CDE4-2742-8648-125D6FB6D6A7}" type="slidenum">
              <a:rPr lang="de-DE" smtClean="0"/>
              <a:t>‹Nr.›</a:t>
            </a:fld>
            <a:endParaRPr lang="de-DE"/>
          </a:p>
        </p:txBody>
      </p:sp>
    </p:spTree>
    <p:extLst>
      <p:ext uri="{BB962C8B-B14F-4D97-AF65-F5344CB8AC3E}">
        <p14:creationId xmlns:p14="http://schemas.microsoft.com/office/powerpoint/2010/main" val="3496699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D57F2179-517F-4147-6801-CABEE740A677}"/>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169229EC-8F4F-9A7A-D180-D10A19783D36}"/>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95A4570B-CCB3-E8D6-239F-D14BFF9267AB}"/>
              </a:ext>
            </a:extLst>
          </p:cNvPr>
          <p:cNvSpPr>
            <a:spLocks noGrp="1"/>
          </p:cNvSpPr>
          <p:nvPr>
            <p:ph type="dt" sz="half" idx="10"/>
          </p:nvPr>
        </p:nvSpPr>
        <p:spPr/>
        <p:txBody>
          <a:bodyPr/>
          <a:lstStyle/>
          <a:p>
            <a:fld id="{5D264D0E-6C8F-624B-AFD8-F474CA3871F9}" type="datetimeFigureOut">
              <a:rPr lang="de-DE" smtClean="0"/>
              <a:t>17.04.26</a:t>
            </a:fld>
            <a:endParaRPr lang="de-DE"/>
          </a:p>
        </p:txBody>
      </p:sp>
      <p:sp>
        <p:nvSpPr>
          <p:cNvPr id="5" name="Fußzeilenplatzhalter 4">
            <a:extLst>
              <a:ext uri="{FF2B5EF4-FFF2-40B4-BE49-F238E27FC236}">
                <a16:creationId xmlns:a16="http://schemas.microsoft.com/office/drawing/2014/main" id="{DA949B24-97C1-6330-71F2-233A06932ADC}"/>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69C7BBE0-1806-9595-5CF0-741E3C011643}"/>
              </a:ext>
            </a:extLst>
          </p:cNvPr>
          <p:cNvSpPr>
            <a:spLocks noGrp="1"/>
          </p:cNvSpPr>
          <p:nvPr>
            <p:ph type="sldNum" sz="quarter" idx="12"/>
          </p:nvPr>
        </p:nvSpPr>
        <p:spPr/>
        <p:txBody>
          <a:bodyPr/>
          <a:lstStyle/>
          <a:p>
            <a:fld id="{E81B93F8-CDE4-2742-8648-125D6FB6D6A7}" type="slidenum">
              <a:rPr lang="de-DE" smtClean="0"/>
              <a:t>‹Nr.›</a:t>
            </a:fld>
            <a:endParaRPr lang="de-DE"/>
          </a:p>
        </p:txBody>
      </p:sp>
    </p:spTree>
    <p:extLst>
      <p:ext uri="{BB962C8B-B14F-4D97-AF65-F5344CB8AC3E}">
        <p14:creationId xmlns:p14="http://schemas.microsoft.com/office/powerpoint/2010/main" val="1087796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0B1120"/>
            </a:gs>
            <a:gs pos="100000">
              <a:srgbClr val="101829"/>
            </a:gs>
          </a:gsLst>
          <a:lin ang="5400000" scaled="1"/>
        </a:gradFill>
        <a:effectLst/>
      </p:bgPr>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F02F1DA3-B87E-2A12-7FC2-8449ED8031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6EBE4F7A-AAAF-CB85-0BE3-B1B0665351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303C3779-175F-15D2-3C7A-608BFA45B3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D264D0E-6C8F-624B-AFD8-F474CA3871F9}" type="datetimeFigureOut">
              <a:rPr lang="de-DE" smtClean="0"/>
              <a:t>17.04.26</a:t>
            </a:fld>
            <a:endParaRPr lang="de-DE"/>
          </a:p>
        </p:txBody>
      </p:sp>
      <p:sp>
        <p:nvSpPr>
          <p:cNvPr id="5" name="Fußzeilenplatzhalter 4">
            <a:extLst>
              <a:ext uri="{FF2B5EF4-FFF2-40B4-BE49-F238E27FC236}">
                <a16:creationId xmlns:a16="http://schemas.microsoft.com/office/drawing/2014/main" id="{567B76E7-8575-0964-F9D3-A3B06C1A41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AEE9C1FC-49E0-F6FD-77F0-73FE370EDD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81B93F8-CDE4-2742-8648-125D6FB6D6A7}" type="slidenum">
              <a:rPr lang="de-DE" smtClean="0"/>
              <a:t>‹Nr.›</a:t>
            </a:fld>
            <a:endParaRPr lang="de-DE"/>
          </a:p>
        </p:txBody>
      </p:sp>
      <p:sp>
        <p:nvSpPr>
          <p:cNvPr id="900" name="AccentLine"/>
          <p:cNvSpPr/>
          <p:nvPr/>
        </p:nvSpPr>
        <p:spPr>
          <a:xfrm>
            <a:off x="0" y="6766560"/>
            <a:ext cx="12192000" cy="91440"/>
          </a:xfrm>
          <a:prstGeom prst="rect">
            <a:avLst/>
          </a:prstGeom>
          <a:gradFill>
            <a:gsLst>
              <a:gs pos="0">
                <a:srgbClr val="00C896"/>
              </a:gs>
              <a:gs pos="50000">
                <a:srgbClr val="0EA5E9"/>
              </a:gs>
              <a:gs pos="100000">
                <a:srgbClr val="8B5CF6"/>
              </a:gs>
            </a:gsLst>
            <a:lin ang="0" scaled="1"/>
          </a:gradFill>
          <a:ln w="0">
            <a:noFill/>
          </a:ln>
        </p:spPr>
        <p:txBody>
          <a:bodyPr/>
          <a:lstStyle/>
          <a:p>
            <a:endParaRPr lang="de-DE"/>
          </a:p>
        </p:txBody>
      </p:sp>
      <p:sp>
        <p:nvSpPr>
          <p:cNvPr id="901" name="CornerAccent"/>
          <p:cNvSpPr/>
          <p:nvPr/>
        </p:nvSpPr>
        <p:spPr>
          <a:xfrm>
            <a:off x="10668000" y="0"/>
            <a:ext cx="1524000" cy="1524000"/>
          </a:xfrm>
          <a:prstGeom prst="rtTriangle">
            <a:avLst/>
          </a:prstGeom>
          <a:solidFill>
            <a:srgbClr val="00C896">
              <a:alpha val="6000"/>
            </a:srgbClr>
          </a:solidFill>
          <a:ln w="0">
            <a:noFill/>
          </a:ln>
        </p:spPr>
        <p:txBody>
          <a:bodyPr/>
          <a:lstStyle/>
          <a:p>
            <a:endParaRPr lang="de-DE"/>
          </a:p>
        </p:txBody>
      </p:sp>
      <p:pic>
        <p:nvPicPr>
          <p:cNvPr id="201" name="EI2 Logo"/>
          <p:cNvPicPr>
            <a:picLocks noChangeAspect="1"/>
          </p:cNvPicPr>
          <p:nvPr/>
        </p:nvPicPr>
        <p:blipFill>
          <a:blip r:embed="rId13"/>
          <a:srcRect l="13768" t="38076" r="7451" b="38500"/>
          <a:stretch>
            <a:fillRect/>
          </a:stretch>
        </p:blipFill>
        <p:spPr>
          <a:xfrm>
            <a:off x="5532503" y="6440667"/>
            <a:ext cx="952821" cy="212479"/>
          </a:xfrm>
          <a:prstGeom prst="rect">
            <a:avLst/>
          </a:prstGeom>
          <a:noFill/>
          <a:ln>
            <a:noFill/>
          </a:ln>
        </p:spPr>
      </p:pic>
    </p:spTree>
    <p:extLst>
      <p:ext uri="{BB962C8B-B14F-4D97-AF65-F5344CB8AC3E}">
        <p14:creationId xmlns:p14="http://schemas.microsoft.com/office/powerpoint/2010/main" val="238739175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rgbClr val="FFFFFF"/>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C8D0D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C8D0D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C8D0D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C8D0D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C8D0D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C8D0DC"/>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C8D0DC"/>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C8D0DC"/>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C8D0DC"/>
          </a:solidFill>
          <a:latin typeface="+mn-lt"/>
          <a:ea typeface="+mn-ea"/>
          <a:cs typeface="+mn-cs"/>
        </a:defRPr>
      </a:lvl9pPr>
    </p:bodyStyle>
    <p:otherStyle>
      <a:defPPr>
        <a:defRPr lang="de-DE">
          <a:solidFill>
            <a:srgbClr val="C8D0DC"/>
          </a:solidFill>
        </a:defRPr>
      </a:defPPr>
      <a:lvl1pPr marL="0" algn="l" defTabSz="914400" rtl="0" eaLnBrk="1" latinLnBrk="0" hangingPunct="1">
        <a:defRPr sz="1800" kern="1200">
          <a:solidFill>
            <a:srgbClr val="C8D0DC"/>
          </a:solidFill>
          <a:latin typeface="+mn-lt"/>
          <a:ea typeface="+mn-ea"/>
          <a:cs typeface="+mn-cs"/>
        </a:defRPr>
      </a:lvl1pPr>
      <a:lvl2pPr marL="457200" algn="l" defTabSz="914400" rtl="0" eaLnBrk="1" latinLnBrk="0" hangingPunct="1">
        <a:defRPr sz="1800" kern="1200">
          <a:solidFill>
            <a:srgbClr val="C8D0DC"/>
          </a:solidFill>
          <a:latin typeface="+mn-lt"/>
          <a:ea typeface="+mn-ea"/>
          <a:cs typeface="+mn-cs"/>
        </a:defRPr>
      </a:lvl2pPr>
      <a:lvl3pPr marL="914400" algn="l" defTabSz="914400" rtl="0" eaLnBrk="1" latinLnBrk="0" hangingPunct="1">
        <a:defRPr sz="1800" kern="1200">
          <a:solidFill>
            <a:srgbClr val="C8D0DC"/>
          </a:solidFill>
          <a:latin typeface="+mn-lt"/>
          <a:ea typeface="+mn-ea"/>
          <a:cs typeface="+mn-cs"/>
        </a:defRPr>
      </a:lvl3pPr>
      <a:lvl4pPr marL="1371600" algn="l" defTabSz="914400" rtl="0" eaLnBrk="1" latinLnBrk="0" hangingPunct="1">
        <a:defRPr sz="1800" kern="1200">
          <a:solidFill>
            <a:srgbClr val="C8D0DC"/>
          </a:solidFill>
          <a:latin typeface="+mn-lt"/>
          <a:ea typeface="+mn-ea"/>
          <a:cs typeface="+mn-cs"/>
        </a:defRPr>
      </a:lvl4pPr>
      <a:lvl5pPr marL="1828800" algn="l" defTabSz="914400" rtl="0" eaLnBrk="1" latinLnBrk="0" hangingPunct="1">
        <a:defRPr sz="1800" kern="1200">
          <a:solidFill>
            <a:srgbClr val="C8D0DC"/>
          </a:solidFill>
          <a:latin typeface="+mn-lt"/>
          <a:ea typeface="+mn-ea"/>
          <a:cs typeface="+mn-cs"/>
        </a:defRPr>
      </a:lvl5pPr>
      <a:lvl6pPr marL="2286000" algn="l" defTabSz="914400" rtl="0" eaLnBrk="1" latinLnBrk="0" hangingPunct="1">
        <a:defRPr sz="1800" kern="1200">
          <a:solidFill>
            <a:srgbClr val="C8D0DC"/>
          </a:solidFill>
          <a:latin typeface="+mn-lt"/>
          <a:ea typeface="+mn-ea"/>
          <a:cs typeface="+mn-cs"/>
        </a:defRPr>
      </a:lvl6pPr>
      <a:lvl7pPr marL="2743200" algn="l" defTabSz="914400" rtl="0" eaLnBrk="1" latinLnBrk="0" hangingPunct="1">
        <a:defRPr sz="1800" kern="1200">
          <a:solidFill>
            <a:srgbClr val="C8D0DC"/>
          </a:solidFill>
          <a:latin typeface="+mn-lt"/>
          <a:ea typeface="+mn-ea"/>
          <a:cs typeface="+mn-cs"/>
        </a:defRPr>
      </a:lvl7pPr>
      <a:lvl8pPr marL="3200400" algn="l" defTabSz="914400" rtl="0" eaLnBrk="1" latinLnBrk="0" hangingPunct="1">
        <a:defRPr sz="1800" kern="1200">
          <a:solidFill>
            <a:srgbClr val="C8D0DC"/>
          </a:solidFill>
          <a:latin typeface="+mn-lt"/>
          <a:ea typeface="+mn-ea"/>
          <a:cs typeface="+mn-cs"/>
        </a:defRPr>
      </a:lvl8pPr>
      <a:lvl9pPr marL="3657600" algn="l" defTabSz="914400" rtl="0" eaLnBrk="1" latinLnBrk="0" hangingPunct="1">
        <a:defRPr sz="1800" kern="1200">
          <a:solidFill>
            <a:srgbClr val="C8D0DC"/>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0268EDD3-902F-C731-23A0-04541AEBEBBA}"/>
              </a:ext>
            </a:extLst>
          </p:cNvPr>
          <p:cNvSpPr>
            <a:spLocks noGrp="1"/>
          </p:cNvSpPr>
          <p:nvPr>
            <p:ph type="title"/>
          </p:nvPr>
        </p:nvSpPr>
        <p:spPr>
          <a:xfrm>
            <a:off x="839788" y="457200"/>
            <a:ext cx="3932237" cy="1600200"/>
          </a:xfrm>
        </p:spPr>
        <p:txBody>
          <a:bodyPr anchor="b">
            <a:normAutofit/>
          </a:bodyPr>
          <a:lstStyle/>
          <a:p>
            <a:pPr>
              <a:buNone/>
            </a:pPr>
            <a:r>
              <a:rPr lang="de-DE" b="1" dirty="0"/>
              <a:t>KI-Beratung &amp; Inkubation</a:t>
            </a:r>
          </a:p>
        </p:txBody>
      </p:sp>
      <p:pic>
        <p:nvPicPr>
          <p:cNvPr id="2" name="Grafik 1">
            <a:extLst>
              <a:ext uri="{FF2B5EF4-FFF2-40B4-BE49-F238E27FC236}">
                <a16:creationId xmlns:a16="http://schemas.microsoft.com/office/drawing/2014/main" id="{DF8FF21B-D957-4CD6-4231-87FC26CDB5A8}"/>
              </a:ext>
            </a:extLst>
          </p:cNvPr>
          <p:cNvPicPr>
            <a:picLocks noChangeAspect="1"/>
          </p:cNvPicPr>
          <p:nvPr/>
        </p:nvPicPr>
        <p:blipFill>
          <a:blip r:embed="rId3"/>
          <a:stretch>
            <a:fillRect/>
          </a:stretch>
        </p:blipFill>
        <p:spPr>
          <a:xfrm>
            <a:off x="5183188" y="1109661"/>
            <a:ext cx="6172200" cy="4629152"/>
          </a:xfrm>
          <a:prstGeom prst="rect">
            <a:avLst/>
          </a:prstGeom>
          <a:noFill/>
        </p:spPr>
      </p:pic>
      <p:sp>
        <p:nvSpPr>
          <p:cNvPr id="5" name="Untertitel 4">
            <a:extLst>
              <a:ext uri="{FF2B5EF4-FFF2-40B4-BE49-F238E27FC236}">
                <a16:creationId xmlns:a16="http://schemas.microsoft.com/office/drawing/2014/main" id="{C3726076-6473-4766-C25E-ABC43F07C3B2}"/>
              </a:ext>
            </a:extLst>
          </p:cNvPr>
          <p:cNvSpPr>
            <a:spLocks noGrp="1"/>
          </p:cNvSpPr>
          <p:nvPr>
            <p:ph type="body" sz="half" idx="2"/>
          </p:nvPr>
        </p:nvSpPr>
        <p:spPr>
          <a:xfrm>
            <a:off x="839788" y="2057400"/>
            <a:ext cx="3932237" cy="412423"/>
          </a:xfrm>
        </p:spPr>
        <p:txBody>
          <a:bodyPr>
            <a:normAutofit/>
          </a:bodyPr>
          <a:lstStyle/>
          <a:p>
            <a:pPr>
              <a:buNone/>
            </a:pPr>
            <a:r>
              <a:rPr lang="de-DE" dirty="0"/>
              <a:t>EI2 Management GmbH</a:t>
            </a:r>
          </a:p>
        </p:txBody>
      </p:sp>
    </p:spTree>
    <p:extLst>
      <p:ext uri="{BB962C8B-B14F-4D97-AF65-F5344CB8AC3E}">
        <p14:creationId xmlns:p14="http://schemas.microsoft.com/office/powerpoint/2010/main" val="472590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CC418FD-A703-E757-C2D8-ABB76A9DDF52}"/>
              </a:ext>
            </a:extLst>
          </p:cNvPr>
          <p:cNvSpPr>
            <a:spLocks noGrp="1"/>
          </p:cNvSpPr>
          <p:nvPr>
            <p:ph type="title"/>
          </p:nvPr>
        </p:nvSpPr>
        <p:spPr/>
        <p:txBody>
          <a:bodyPr>
            <a:normAutofit/>
          </a:bodyPr>
          <a:lstStyle/>
          <a:p>
            <a:pPr algn="l">
              <a:buNone/>
            </a:pPr>
            <a:r>
              <a:rPr lang="de-DE" sz="3200" b="1" dirty="0" err="1">
                <a:solidFill>
                  <a:srgbClr val="FFFFFF"/>
                </a:solidFill>
              </a:rPr>
              <a:t>Ecopolis</a:t>
            </a:r>
            <a:r>
              <a:rPr lang="de-DE" sz="3200" b="1" dirty="0">
                <a:solidFill>
                  <a:srgbClr val="FFFFFF"/>
                </a:solidFill>
              </a:rPr>
              <a:t> </a:t>
            </a:r>
            <a:r>
              <a:rPr lang="de-DE" sz="3200" b="1" dirty="0" err="1">
                <a:solidFill>
                  <a:srgbClr val="FFFFFF"/>
                </a:solidFill>
              </a:rPr>
              <a:t>Incubator</a:t>
            </a:r>
            <a:r>
              <a:rPr lang="de-DE" sz="3200" b="1" dirty="0">
                <a:solidFill>
                  <a:srgbClr val="FFFFFF"/>
                </a:solidFill>
              </a:rPr>
              <a:t> </a:t>
            </a:r>
            <a:r>
              <a:rPr lang="de-DE" sz="3200" b="1" dirty="0" err="1">
                <a:solidFill>
                  <a:srgbClr val="FFFFFF"/>
                </a:solidFill>
              </a:rPr>
              <a:t>Initative</a:t>
            </a:r>
            <a:endParaRPr lang="de-DE" sz="3200" b="1" dirty="0">
              <a:solidFill>
                <a:srgbClr val="FFFFFF"/>
              </a:solidFill>
            </a:endParaRPr>
          </a:p>
        </p:txBody>
      </p:sp>
      <p:sp>
        <p:nvSpPr>
          <p:cNvPr id="3" name="Inhaltsplatzhalter 2">
            <a:extLst>
              <a:ext uri="{FF2B5EF4-FFF2-40B4-BE49-F238E27FC236}">
                <a16:creationId xmlns:a16="http://schemas.microsoft.com/office/drawing/2014/main" id="{86CC9AC7-BAEA-6B29-7EC1-3653E047DD08}"/>
              </a:ext>
            </a:extLst>
          </p:cNvPr>
          <p:cNvSpPr>
            <a:spLocks noGrp="1"/>
          </p:cNvSpPr>
          <p:nvPr>
            <p:ph idx="1"/>
          </p:nvPr>
        </p:nvSpPr>
        <p:spPr>
          <a:xfrm>
            <a:off x="838199" y="1825625"/>
            <a:ext cx="6971675" cy="4351338"/>
          </a:xfrm>
        </p:spPr>
        <p:txBody>
          <a:bodyPr>
            <a:normAutofit/>
          </a:bodyPr>
          <a:lstStyle/>
          <a:p>
            <a:pPr marL="0" indent="0">
              <a:buNone/>
            </a:pPr>
            <a:r>
              <a:rPr lang="de-DE" sz="1400" b="1" dirty="0">
                <a:solidFill>
                  <a:srgbClr val="00C896"/>
                </a:solidFill>
              </a:rPr>
              <a:t>// Unternehmen</a:t>
            </a:r>
          </a:p>
          <a:p>
            <a:pPr marL="0" indent="0">
              <a:buNone/>
            </a:pPr>
            <a:r>
              <a:rPr lang="de-DE" sz="1600" dirty="0">
                <a:solidFill>
                  <a:srgbClr val="C8D0DC"/>
                </a:solidFill>
              </a:rPr>
              <a:t>Die </a:t>
            </a:r>
            <a:r>
              <a:rPr lang="de-DE" sz="1600" b="1" dirty="0">
                <a:solidFill>
                  <a:srgbClr val="FFFFFF"/>
                </a:solidFill>
              </a:rPr>
              <a:t>Ecopolis Incubator Initiative (EI²)</a:t>
            </a:r>
            <a:r>
              <a:rPr lang="de-DE" sz="1600" dirty="0">
                <a:solidFill>
                  <a:srgbClr val="C8D0DC"/>
                </a:solidFill>
              </a:rPr>
              <a:t> wurde mit der Idee </a:t>
            </a:r>
            <a:r>
              <a:rPr lang="de-DE" sz="1600" dirty="0"/>
              <a:t>gegründet, </a:t>
            </a:r>
            <a:r>
              <a:rPr lang="de-DE" sz="1600" dirty="0">
                <a:solidFill>
                  <a:srgbClr val="C8D0DC"/>
                </a:solidFill>
              </a:rPr>
              <a:t>einen Beitrag </a:t>
            </a:r>
            <a:r>
              <a:rPr lang="de-DE" sz="1600" dirty="0"/>
              <a:t>zur Unterstützung innovativer Geschäftsideen zu leisten, die positiv auf die nachhaltige Entwicklung der Gesellschaft einwirken.</a:t>
            </a:r>
            <a:endParaRPr lang="de-DE" sz="1600" dirty="0">
              <a:solidFill>
                <a:srgbClr val="C8D0DC"/>
              </a:solidFill>
            </a:endParaRPr>
          </a:p>
          <a:p>
            <a:pPr marL="0" indent="0">
              <a:buNone/>
            </a:pPr>
            <a:br>
              <a:rPr lang="de-DE" sz="1600" dirty="0">
                <a:solidFill>
                  <a:srgbClr val="C8D0DC"/>
                </a:solidFill>
              </a:rPr>
            </a:br>
            <a:r>
              <a:rPr lang="de-DE" sz="1400" b="1" dirty="0">
                <a:solidFill>
                  <a:srgbClr val="00C896"/>
                </a:solidFill>
              </a:rPr>
              <a:t>// Mission</a:t>
            </a:r>
          </a:p>
          <a:p>
            <a:pPr marL="0" indent="0">
              <a:buNone/>
            </a:pPr>
            <a:r>
              <a:rPr lang="de-DE" sz="1600" dirty="0">
                <a:solidFill>
                  <a:srgbClr val="C8D0DC"/>
                </a:solidFill>
              </a:rPr>
              <a:t>KI-basierte Softwarelösungen entwerfen, Prototypen bauen, Innovationen bis zur Marktreife begleiten und Unternehmen aufbauen</a:t>
            </a:r>
            <a:br>
              <a:rPr lang="de-DE" sz="1600" dirty="0">
                <a:solidFill>
                  <a:srgbClr val="C8D0DC"/>
                </a:solidFill>
              </a:rPr>
            </a:br>
            <a:r>
              <a:rPr lang="de-DE" sz="1600" dirty="0">
                <a:solidFill>
                  <a:srgbClr val="C8D0DC"/>
                </a:solidFill>
              </a:rPr>
              <a:t>- persönlich, präzise und ergebnisorientiert.</a:t>
            </a:r>
            <a:br>
              <a:rPr lang="de-DE" sz="1600" dirty="0">
                <a:solidFill>
                  <a:srgbClr val="C8D0DC"/>
                </a:solidFill>
              </a:rPr>
            </a:br>
            <a:endParaRPr lang="de-DE" sz="1500" dirty="0"/>
          </a:p>
        </p:txBody>
      </p:sp>
      <p:sp>
        <p:nvSpPr>
          <p:cNvPr id="4" name="Abgerundetes Rechteck 3">
            <a:extLst>
              <a:ext uri="{FF2B5EF4-FFF2-40B4-BE49-F238E27FC236}">
                <a16:creationId xmlns:a16="http://schemas.microsoft.com/office/drawing/2014/main" id="{79BC0E0B-0974-6142-A58E-CCDD5D353DE3}"/>
              </a:ext>
            </a:extLst>
          </p:cNvPr>
          <p:cNvSpPr/>
          <p:nvPr/>
        </p:nvSpPr>
        <p:spPr>
          <a:xfrm>
            <a:off x="9172388" y="2127722"/>
            <a:ext cx="2349500" cy="709711"/>
          </a:xfrm>
          <a:prstGeom prst="roundRect">
            <a:avLst/>
          </a:prstGeom>
          <a:solidFill>
            <a:srgbClr val="131B2E"/>
          </a:solidFill>
          <a:ln w="12700" cap="flat" cmpd="sng" algn="ctr">
            <a:solidFill>
              <a:srgbClr val="1E2A4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5" name="Textfeld 4">
            <a:extLst>
              <a:ext uri="{FF2B5EF4-FFF2-40B4-BE49-F238E27FC236}">
                <a16:creationId xmlns:a16="http://schemas.microsoft.com/office/drawing/2014/main" id="{EE9291A5-BD90-094F-8F57-CF976CB9EC9E}"/>
              </a:ext>
            </a:extLst>
          </p:cNvPr>
          <p:cNvSpPr txBox="1"/>
          <p:nvPr/>
        </p:nvSpPr>
        <p:spPr>
          <a:xfrm>
            <a:off x="9299388" y="2127722"/>
            <a:ext cx="2095500" cy="444500"/>
          </a:xfrm>
          <a:prstGeom prst="rect">
            <a:avLst/>
          </a:prstGeom>
          <a:noFill/>
        </p:spPr>
        <p:txBody>
          <a:bodyPr vertOverflow="overflow" vert="horz" wrap="square" rtlCol="0" anchor="t">
            <a:spAutoFit/>
          </a:bodyPr>
          <a:lstStyle/>
          <a:p>
            <a:pPr algn="l"/>
            <a:r>
              <a:rPr lang="de-DE" sz="2200" b="1" dirty="0">
                <a:solidFill>
                  <a:srgbClr val="00C896"/>
                </a:solidFill>
              </a:rPr>
              <a:t>2016</a:t>
            </a:r>
          </a:p>
        </p:txBody>
      </p:sp>
      <p:sp>
        <p:nvSpPr>
          <p:cNvPr id="6" name="Textfeld 5">
            <a:extLst>
              <a:ext uri="{FF2B5EF4-FFF2-40B4-BE49-F238E27FC236}">
                <a16:creationId xmlns:a16="http://schemas.microsoft.com/office/drawing/2014/main" id="{933F42C3-EFE1-884E-AF98-B3132125E8B5}"/>
              </a:ext>
            </a:extLst>
          </p:cNvPr>
          <p:cNvSpPr txBox="1"/>
          <p:nvPr/>
        </p:nvSpPr>
        <p:spPr>
          <a:xfrm>
            <a:off x="9286688" y="2444480"/>
            <a:ext cx="2095500" cy="307777"/>
          </a:xfrm>
          <a:prstGeom prst="rect">
            <a:avLst/>
          </a:prstGeom>
          <a:noFill/>
        </p:spPr>
        <p:txBody>
          <a:bodyPr vertOverflow="overflow" vert="horz" wrap="square" rtlCol="0" anchor="t">
            <a:spAutoFit/>
          </a:bodyPr>
          <a:lstStyle/>
          <a:p>
            <a:pPr algn="l"/>
            <a:r>
              <a:rPr lang="de-DE" sz="1400" dirty="0">
                <a:solidFill>
                  <a:srgbClr val="8B95A8"/>
                </a:solidFill>
              </a:rPr>
              <a:t>Gründung</a:t>
            </a:r>
          </a:p>
        </p:txBody>
      </p:sp>
      <p:sp>
        <p:nvSpPr>
          <p:cNvPr id="7" name="Abgerundetes Rechteck 6">
            <a:extLst>
              <a:ext uri="{FF2B5EF4-FFF2-40B4-BE49-F238E27FC236}">
                <a16:creationId xmlns:a16="http://schemas.microsoft.com/office/drawing/2014/main" id="{C51E108A-17D9-8544-8678-1B3B106B7A7D}"/>
              </a:ext>
            </a:extLst>
          </p:cNvPr>
          <p:cNvSpPr/>
          <p:nvPr/>
        </p:nvSpPr>
        <p:spPr>
          <a:xfrm>
            <a:off x="9172388" y="3154191"/>
            <a:ext cx="2349500" cy="709711"/>
          </a:xfrm>
          <a:prstGeom prst="roundRect">
            <a:avLst/>
          </a:prstGeom>
          <a:solidFill>
            <a:srgbClr val="131B2E"/>
          </a:solidFill>
          <a:ln w="12700" cap="flat" cmpd="sng" algn="ctr">
            <a:solidFill>
              <a:srgbClr val="1E2A4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8" name="Textfeld 7">
            <a:extLst>
              <a:ext uri="{FF2B5EF4-FFF2-40B4-BE49-F238E27FC236}">
                <a16:creationId xmlns:a16="http://schemas.microsoft.com/office/drawing/2014/main" id="{709A65A5-0B9C-094A-BB85-768E6F88827A}"/>
              </a:ext>
            </a:extLst>
          </p:cNvPr>
          <p:cNvSpPr txBox="1"/>
          <p:nvPr/>
        </p:nvSpPr>
        <p:spPr>
          <a:xfrm>
            <a:off x="9299388" y="3154191"/>
            <a:ext cx="2095500" cy="444500"/>
          </a:xfrm>
          <a:prstGeom prst="rect">
            <a:avLst/>
          </a:prstGeom>
          <a:noFill/>
        </p:spPr>
        <p:txBody>
          <a:bodyPr vertOverflow="overflow" vert="horz" wrap="square" rtlCol="0" anchor="t">
            <a:spAutoFit/>
          </a:bodyPr>
          <a:lstStyle/>
          <a:p>
            <a:pPr algn="l"/>
            <a:r>
              <a:rPr lang="de-DE" sz="2200" b="1" dirty="0">
                <a:solidFill>
                  <a:srgbClr val="00C896"/>
                </a:solidFill>
              </a:rPr>
              <a:t>11</a:t>
            </a:r>
          </a:p>
        </p:txBody>
      </p:sp>
      <p:sp>
        <p:nvSpPr>
          <p:cNvPr id="9" name="Textfeld 8">
            <a:extLst>
              <a:ext uri="{FF2B5EF4-FFF2-40B4-BE49-F238E27FC236}">
                <a16:creationId xmlns:a16="http://schemas.microsoft.com/office/drawing/2014/main" id="{F60706DE-0ACB-204B-B57E-243429583D0B}"/>
              </a:ext>
            </a:extLst>
          </p:cNvPr>
          <p:cNvSpPr txBox="1"/>
          <p:nvPr/>
        </p:nvSpPr>
        <p:spPr>
          <a:xfrm>
            <a:off x="9299388" y="3470948"/>
            <a:ext cx="2095500" cy="307777"/>
          </a:xfrm>
          <a:prstGeom prst="rect">
            <a:avLst/>
          </a:prstGeom>
          <a:noFill/>
        </p:spPr>
        <p:txBody>
          <a:bodyPr vertOverflow="overflow" vert="horz" wrap="square" rtlCol="0" anchor="t">
            <a:spAutoFit/>
          </a:bodyPr>
          <a:lstStyle/>
          <a:p>
            <a:pPr algn="l"/>
            <a:r>
              <a:rPr lang="de-DE" sz="1400" dirty="0">
                <a:solidFill>
                  <a:srgbClr val="8B95A8"/>
                </a:solidFill>
              </a:rPr>
              <a:t>Betreute Startups</a:t>
            </a:r>
          </a:p>
        </p:txBody>
      </p:sp>
      <p:sp>
        <p:nvSpPr>
          <p:cNvPr id="10" name="Abgerundetes Rechteck 9">
            <a:extLst>
              <a:ext uri="{FF2B5EF4-FFF2-40B4-BE49-F238E27FC236}">
                <a16:creationId xmlns:a16="http://schemas.microsoft.com/office/drawing/2014/main" id="{579F27AE-35F9-B043-8D7F-9A3471802028}"/>
              </a:ext>
            </a:extLst>
          </p:cNvPr>
          <p:cNvSpPr/>
          <p:nvPr/>
        </p:nvSpPr>
        <p:spPr>
          <a:xfrm>
            <a:off x="9172388" y="4180659"/>
            <a:ext cx="2349500" cy="709711"/>
          </a:xfrm>
          <a:prstGeom prst="roundRect">
            <a:avLst/>
          </a:prstGeom>
          <a:solidFill>
            <a:srgbClr val="131B2E"/>
          </a:solidFill>
          <a:ln w="12700" cap="flat" cmpd="sng" algn="ctr">
            <a:solidFill>
              <a:srgbClr val="1E2A4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11" name="Textfeld 10">
            <a:extLst>
              <a:ext uri="{FF2B5EF4-FFF2-40B4-BE49-F238E27FC236}">
                <a16:creationId xmlns:a16="http://schemas.microsoft.com/office/drawing/2014/main" id="{0844700D-2802-BB4C-BD89-9D91CECC2EE1}"/>
              </a:ext>
            </a:extLst>
          </p:cNvPr>
          <p:cNvSpPr txBox="1"/>
          <p:nvPr/>
        </p:nvSpPr>
        <p:spPr>
          <a:xfrm>
            <a:off x="9299388" y="4180659"/>
            <a:ext cx="2095500" cy="444500"/>
          </a:xfrm>
          <a:prstGeom prst="rect">
            <a:avLst/>
          </a:prstGeom>
          <a:noFill/>
        </p:spPr>
        <p:txBody>
          <a:bodyPr vertOverflow="overflow" vert="horz" wrap="square" rtlCol="0" anchor="t">
            <a:spAutoFit/>
          </a:bodyPr>
          <a:lstStyle/>
          <a:p>
            <a:pPr algn="l"/>
            <a:r>
              <a:rPr lang="de-DE" sz="2200" b="1" dirty="0">
                <a:solidFill>
                  <a:srgbClr val="00C896"/>
                </a:solidFill>
              </a:rPr>
              <a:t>1</a:t>
            </a:r>
          </a:p>
        </p:txBody>
      </p:sp>
      <p:sp>
        <p:nvSpPr>
          <p:cNvPr id="12" name="Textfeld 11">
            <a:extLst>
              <a:ext uri="{FF2B5EF4-FFF2-40B4-BE49-F238E27FC236}">
                <a16:creationId xmlns:a16="http://schemas.microsoft.com/office/drawing/2014/main" id="{B49E1E80-B898-CA4A-9FF5-177BE3A873D5}"/>
              </a:ext>
            </a:extLst>
          </p:cNvPr>
          <p:cNvSpPr txBox="1"/>
          <p:nvPr/>
        </p:nvSpPr>
        <p:spPr>
          <a:xfrm>
            <a:off x="9299388" y="4509370"/>
            <a:ext cx="2095500" cy="307777"/>
          </a:xfrm>
          <a:prstGeom prst="rect">
            <a:avLst/>
          </a:prstGeom>
          <a:noFill/>
        </p:spPr>
        <p:txBody>
          <a:bodyPr vertOverflow="overflow" vert="horz" wrap="square" rtlCol="0" anchor="t">
            <a:spAutoFit/>
          </a:bodyPr>
          <a:lstStyle/>
          <a:p>
            <a:pPr algn="l"/>
            <a:r>
              <a:rPr lang="de-DE" sz="1400" dirty="0">
                <a:solidFill>
                  <a:srgbClr val="8B95A8"/>
                </a:solidFill>
              </a:rPr>
              <a:t>Exits</a:t>
            </a:r>
          </a:p>
        </p:txBody>
      </p:sp>
      <p:sp>
        <p:nvSpPr>
          <p:cNvPr id="13" name="Abgerundetes Rechteck 12">
            <a:extLst>
              <a:ext uri="{FF2B5EF4-FFF2-40B4-BE49-F238E27FC236}">
                <a16:creationId xmlns:a16="http://schemas.microsoft.com/office/drawing/2014/main" id="{DACAC498-E2A0-664D-ADEE-9888E51C48A9}"/>
              </a:ext>
            </a:extLst>
          </p:cNvPr>
          <p:cNvSpPr/>
          <p:nvPr/>
        </p:nvSpPr>
        <p:spPr>
          <a:xfrm>
            <a:off x="9159688" y="5207127"/>
            <a:ext cx="2349500" cy="709711"/>
          </a:xfrm>
          <a:prstGeom prst="roundRect">
            <a:avLst/>
          </a:prstGeom>
          <a:solidFill>
            <a:srgbClr val="131B2E"/>
          </a:solidFill>
          <a:ln w="12700" cap="flat" cmpd="sng" algn="ctr">
            <a:solidFill>
              <a:srgbClr val="1E2A4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14" name="Textfeld 13">
            <a:extLst>
              <a:ext uri="{FF2B5EF4-FFF2-40B4-BE49-F238E27FC236}">
                <a16:creationId xmlns:a16="http://schemas.microsoft.com/office/drawing/2014/main" id="{D6F6CA38-299C-6048-AD4E-958AE5B9002C}"/>
              </a:ext>
            </a:extLst>
          </p:cNvPr>
          <p:cNvSpPr txBox="1"/>
          <p:nvPr/>
        </p:nvSpPr>
        <p:spPr>
          <a:xfrm>
            <a:off x="9286688" y="5207127"/>
            <a:ext cx="2095500" cy="444500"/>
          </a:xfrm>
          <a:prstGeom prst="rect">
            <a:avLst/>
          </a:prstGeom>
          <a:noFill/>
        </p:spPr>
        <p:txBody>
          <a:bodyPr vertOverflow="overflow" vert="horz" wrap="square" rtlCol="0" anchor="t">
            <a:spAutoFit/>
          </a:bodyPr>
          <a:lstStyle/>
          <a:p>
            <a:pPr algn="l"/>
            <a:r>
              <a:rPr lang="de-DE" sz="2200" b="1" dirty="0">
                <a:solidFill>
                  <a:srgbClr val="00C896"/>
                </a:solidFill>
              </a:rPr>
              <a:t>9</a:t>
            </a:r>
          </a:p>
        </p:txBody>
      </p:sp>
      <p:sp>
        <p:nvSpPr>
          <p:cNvPr id="15" name="Textfeld 14">
            <a:extLst>
              <a:ext uri="{FF2B5EF4-FFF2-40B4-BE49-F238E27FC236}">
                <a16:creationId xmlns:a16="http://schemas.microsoft.com/office/drawing/2014/main" id="{6F57A566-A18A-3943-954F-CBC32D96683F}"/>
              </a:ext>
            </a:extLst>
          </p:cNvPr>
          <p:cNvSpPr txBox="1"/>
          <p:nvPr/>
        </p:nvSpPr>
        <p:spPr>
          <a:xfrm>
            <a:off x="9286688" y="5535838"/>
            <a:ext cx="2095500" cy="307777"/>
          </a:xfrm>
          <a:prstGeom prst="rect">
            <a:avLst/>
          </a:prstGeom>
          <a:noFill/>
        </p:spPr>
        <p:txBody>
          <a:bodyPr vertOverflow="overflow" vert="horz" wrap="square" rtlCol="0" anchor="t">
            <a:spAutoFit/>
          </a:bodyPr>
          <a:lstStyle/>
          <a:p>
            <a:pPr algn="l"/>
            <a:r>
              <a:rPr lang="de-DE" sz="1400" dirty="0">
                <a:solidFill>
                  <a:srgbClr val="8B95A8"/>
                </a:solidFill>
              </a:rPr>
              <a:t>Mitwirkende</a:t>
            </a:r>
          </a:p>
        </p:txBody>
      </p:sp>
      <p:sp>
        <p:nvSpPr>
          <p:cNvPr id="18" name="Inhaltsplatzhalter 2">
            <a:extLst>
              <a:ext uri="{FF2B5EF4-FFF2-40B4-BE49-F238E27FC236}">
                <a16:creationId xmlns:a16="http://schemas.microsoft.com/office/drawing/2014/main" id="{D30579D7-5B75-5D72-3576-37DF702C051E}"/>
              </a:ext>
            </a:extLst>
          </p:cNvPr>
          <p:cNvSpPr txBox="1">
            <a:spLocks/>
          </p:cNvSpPr>
          <p:nvPr/>
        </p:nvSpPr>
        <p:spPr>
          <a:xfrm>
            <a:off x="4181006" y="4135846"/>
            <a:ext cx="3111709" cy="2109922"/>
          </a:xfrm>
          <a:prstGeom prst="rect">
            <a:avLst/>
          </a:prstGeom>
        </p:spPr>
        <p:txBody>
          <a:bodyPr vert="horz" wrap="square"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C8D0D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C8D0D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C8D0D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C8D0D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C8D0D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C8D0DC"/>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C8D0DC"/>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C8D0DC"/>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C8D0DC"/>
                </a:solidFill>
                <a:latin typeface="+mn-lt"/>
                <a:ea typeface="+mn-ea"/>
                <a:cs typeface="+mn-cs"/>
              </a:defRPr>
            </a:lvl9pPr>
          </a:lstStyle>
          <a:p>
            <a:pPr marL="0" indent="0">
              <a:buFont typeface="Arial" panose="020B0604020202020204" pitchFamily="34" charset="0"/>
              <a:buNone/>
            </a:pPr>
            <a:endParaRPr lang="de-DE" sz="1500" b="1" dirty="0">
              <a:solidFill>
                <a:srgbClr val="00C896"/>
              </a:solidFill>
            </a:endParaRPr>
          </a:p>
          <a:p>
            <a:pPr marL="0" indent="0">
              <a:buFont typeface="Arial" panose="020B0604020202020204" pitchFamily="34" charset="0"/>
              <a:buNone/>
            </a:pPr>
            <a:r>
              <a:rPr lang="de-DE" sz="1500" b="1" dirty="0">
                <a:solidFill>
                  <a:srgbClr val="00C896"/>
                </a:solidFill>
              </a:rPr>
              <a:t>// Expertise - Tec</a:t>
            </a:r>
          </a:p>
          <a:p>
            <a:pPr marL="228600" indent="-228600">
              <a:buSzPct val="70000"/>
              <a:buFont typeface="Arial"/>
              <a:buChar char="▶"/>
            </a:pPr>
            <a:r>
              <a:rPr lang="de-DE" sz="1500" dirty="0"/>
              <a:t>Anwendung von Agentic AI &amp; Multi-Agenten-Systemen</a:t>
            </a:r>
          </a:p>
          <a:p>
            <a:pPr marL="228600" indent="-228600">
              <a:buSzPct val="70000"/>
              <a:buFont typeface="Arial"/>
              <a:buChar char="▶"/>
            </a:pPr>
            <a:r>
              <a:rPr lang="de-DE" sz="1500" dirty="0"/>
              <a:t>Entwicklung von MVPs im Bereich Anwendungssoftware</a:t>
            </a:r>
          </a:p>
        </p:txBody>
      </p:sp>
      <p:sp>
        <p:nvSpPr>
          <p:cNvPr id="19" name="Inhaltsplatzhalter 2">
            <a:extLst>
              <a:ext uri="{FF2B5EF4-FFF2-40B4-BE49-F238E27FC236}">
                <a16:creationId xmlns:a16="http://schemas.microsoft.com/office/drawing/2014/main" id="{06593A55-D116-91B1-3928-7A9AFFD04937}"/>
              </a:ext>
            </a:extLst>
          </p:cNvPr>
          <p:cNvSpPr txBox="1">
            <a:spLocks/>
          </p:cNvSpPr>
          <p:nvPr/>
        </p:nvSpPr>
        <p:spPr>
          <a:xfrm>
            <a:off x="838200" y="4135846"/>
            <a:ext cx="2920894" cy="1922053"/>
          </a:xfrm>
          <a:prstGeom prst="rect">
            <a:avLst/>
          </a:prstGeom>
        </p:spPr>
        <p:txBody>
          <a:bodyPr vert="horz" wrap="square"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C8D0D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C8D0D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C8D0D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C8D0D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C8D0D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C8D0DC"/>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C8D0DC"/>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C8D0DC"/>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C8D0DC"/>
                </a:solidFill>
                <a:latin typeface="+mn-lt"/>
                <a:ea typeface="+mn-ea"/>
                <a:cs typeface="+mn-cs"/>
              </a:defRPr>
            </a:lvl9pPr>
          </a:lstStyle>
          <a:p>
            <a:pPr marL="0" indent="0">
              <a:buNone/>
            </a:pPr>
            <a:endParaRPr lang="de-DE" sz="1500" dirty="0"/>
          </a:p>
          <a:p>
            <a:pPr marL="0" indent="0">
              <a:buNone/>
            </a:pPr>
            <a:r>
              <a:rPr lang="de-DE" sz="1500" b="1" dirty="0">
                <a:solidFill>
                  <a:srgbClr val="00C896"/>
                </a:solidFill>
              </a:rPr>
              <a:t>// Expertise - Business</a:t>
            </a:r>
          </a:p>
          <a:p>
            <a:pPr marL="228600" indent="-228600">
              <a:buSzPct val="70000"/>
              <a:buFont typeface="Arial"/>
              <a:buChar char="▶"/>
            </a:pPr>
            <a:r>
              <a:rPr lang="de-DE" sz="1500" dirty="0"/>
              <a:t>Produktmanagement und Markteinführungsstrategien</a:t>
            </a:r>
          </a:p>
          <a:p>
            <a:pPr marL="228600" indent="-228600">
              <a:buSzPct val="70000"/>
              <a:buFont typeface="Arial"/>
              <a:buChar char="▶"/>
            </a:pPr>
            <a:r>
              <a:rPr lang="de-DE" sz="1500" dirty="0"/>
              <a:t>Aufbau und Strukturierung von Unternehmen</a:t>
            </a:r>
          </a:p>
        </p:txBody>
      </p:sp>
    </p:spTree>
    <p:extLst>
      <p:ext uri="{BB962C8B-B14F-4D97-AF65-F5344CB8AC3E}">
        <p14:creationId xmlns:p14="http://schemas.microsoft.com/office/powerpoint/2010/main" val="1447420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2ABCA3-14BA-003E-E65C-F75D48836E94}"/>
              </a:ext>
            </a:extLst>
          </p:cNvPr>
          <p:cNvSpPr>
            <a:spLocks noGrp="1"/>
          </p:cNvSpPr>
          <p:nvPr>
            <p:ph type="title"/>
          </p:nvPr>
        </p:nvSpPr>
        <p:spPr>
          <a:xfrm>
            <a:off x="220489" y="365125"/>
            <a:ext cx="11133311" cy="1325563"/>
          </a:xfrm>
        </p:spPr>
        <p:txBody>
          <a:bodyPr>
            <a:normAutofit/>
          </a:bodyPr>
          <a:lstStyle/>
          <a:p>
            <a:r>
              <a:rPr lang="de-DE" sz="3200" b="1" dirty="0"/>
              <a:t>Leistungen</a:t>
            </a:r>
          </a:p>
        </p:txBody>
      </p:sp>
      <p:sp>
        <p:nvSpPr>
          <p:cNvPr id="3" name="Abgerundetes Rechteck 2">
            <a:extLst>
              <a:ext uri="{FF2B5EF4-FFF2-40B4-BE49-F238E27FC236}">
                <a16:creationId xmlns:a16="http://schemas.microsoft.com/office/drawing/2014/main" id="{717622CE-56D7-8145-BFD1-0F45E2C84A9D}"/>
              </a:ext>
            </a:extLst>
          </p:cNvPr>
          <p:cNvSpPr/>
          <p:nvPr/>
        </p:nvSpPr>
        <p:spPr>
          <a:xfrm>
            <a:off x="220489" y="1905000"/>
            <a:ext cx="2680203" cy="3937000"/>
          </a:xfrm>
          <a:prstGeom prst="roundRect">
            <a:avLst>
              <a:gd name="adj" fmla="val 6796"/>
            </a:avLst>
          </a:prstGeom>
          <a:solidFill>
            <a:srgbClr val="131B2E"/>
          </a:solidFill>
          <a:ln w="12700" cap="flat" cmpd="sng" algn="ctr">
            <a:solidFill>
              <a:srgbClr val="1E2A4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5" name="Textfeld 4">
            <a:extLst>
              <a:ext uri="{FF2B5EF4-FFF2-40B4-BE49-F238E27FC236}">
                <a16:creationId xmlns:a16="http://schemas.microsoft.com/office/drawing/2014/main" id="{17225DB3-70D9-6F46-BD0E-161C8184A07D}"/>
              </a:ext>
            </a:extLst>
          </p:cNvPr>
          <p:cNvSpPr txBox="1"/>
          <p:nvPr/>
        </p:nvSpPr>
        <p:spPr>
          <a:xfrm>
            <a:off x="410989" y="2730500"/>
            <a:ext cx="2353901" cy="646331"/>
          </a:xfrm>
          <a:prstGeom prst="rect">
            <a:avLst/>
          </a:prstGeom>
          <a:noFill/>
        </p:spPr>
        <p:txBody>
          <a:bodyPr vertOverflow="overflow" vert="horz" wrap="square" rtlCol="0" anchor="t">
            <a:spAutoFit/>
          </a:bodyPr>
          <a:lstStyle/>
          <a:p>
            <a:pPr algn="l"/>
            <a:r>
              <a:rPr lang="de-DE" b="1" dirty="0">
                <a:solidFill>
                  <a:srgbClr val="FFFFFF"/>
                </a:solidFill>
              </a:rPr>
              <a:t>KI-Strategie-
</a:t>
            </a:r>
            <a:r>
              <a:rPr lang="de-DE" b="1" dirty="0" err="1">
                <a:solidFill>
                  <a:srgbClr val="FFFFFF"/>
                </a:solidFill>
              </a:rPr>
              <a:t>beratung</a:t>
            </a:r>
            <a:endParaRPr lang="de-DE" b="1" dirty="0">
              <a:solidFill>
                <a:srgbClr val="FFFFFF"/>
              </a:solidFill>
            </a:endParaRPr>
          </a:p>
        </p:txBody>
      </p:sp>
      <p:sp>
        <p:nvSpPr>
          <p:cNvPr id="6" name="Textfeld 5">
            <a:extLst>
              <a:ext uri="{FF2B5EF4-FFF2-40B4-BE49-F238E27FC236}">
                <a16:creationId xmlns:a16="http://schemas.microsoft.com/office/drawing/2014/main" id="{E06CB7A6-C3EB-0F47-83C5-23CC982E0102}"/>
              </a:ext>
            </a:extLst>
          </p:cNvPr>
          <p:cNvSpPr txBox="1"/>
          <p:nvPr/>
        </p:nvSpPr>
        <p:spPr>
          <a:xfrm>
            <a:off x="410989" y="3492500"/>
            <a:ext cx="2388229" cy="1206500"/>
          </a:xfrm>
          <a:prstGeom prst="rect">
            <a:avLst/>
          </a:prstGeom>
          <a:noFill/>
        </p:spPr>
        <p:txBody>
          <a:bodyPr vertOverflow="overflow" vert="horz" wrap="square" rtlCol="0" anchor="t">
            <a:spAutoFit/>
          </a:bodyPr>
          <a:lstStyle/>
          <a:p>
            <a:pPr algn="l"/>
            <a:r>
              <a:rPr lang="de-DE" sz="1400" dirty="0">
                <a:solidFill>
                  <a:srgbClr val="8B95A8"/>
                </a:solidFill>
              </a:rPr>
              <a:t>Klarheit vor Komplexität.
Wir analysieren Ihre Prozesse, identifizieren KI-Potenziale und entwickeln eine umsetzbare Roadmap.</a:t>
            </a:r>
          </a:p>
        </p:txBody>
      </p:sp>
      <p:sp>
        <p:nvSpPr>
          <p:cNvPr id="7" name="Textfeld 6">
            <a:extLst>
              <a:ext uri="{FF2B5EF4-FFF2-40B4-BE49-F238E27FC236}">
                <a16:creationId xmlns:a16="http://schemas.microsoft.com/office/drawing/2014/main" id="{515C32C7-82A3-8D45-BDC4-862571EC1D3B}"/>
              </a:ext>
            </a:extLst>
          </p:cNvPr>
          <p:cNvSpPr txBox="1"/>
          <p:nvPr/>
        </p:nvSpPr>
        <p:spPr>
          <a:xfrm>
            <a:off x="410989" y="4847581"/>
            <a:ext cx="2353901" cy="954107"/>
          </a:xfrm>
          <a:prstGeom prst="rect">
            <a:avLst/>
          </a:prstGeom>
          <a:noFill/>
        </p:spPr>
        <p:txBody>
          <a:bodyPr vertOverflow="overflow" vert="horz" wrap="square" rtlCol="0" anchor="t">
            <a:spAutoFit/>
          </a:bodyPr>
          <a:lstStyle/>
          <a:p>
            <a:pPr algn="l"/>
            <a:r>
              <a:rPr lang="de-DE" sz="1400" dirty="0">
                <a:solidFill>
                  <a:srgbClr val="00C896"/>
                </a:solidFill>
              </a:rPr>
              <a:t>Potenzialanalyse
Machbarkeit
Use-Case Design</a:t>
            </a:r>
          </a:p>
          <a:p>
            <a:r>
              <a:rPr lang="de-DE" sz="1400" dirty="0" err="1">
                <a:solidFill>
                  <a:srgbClr val="00C896"/>
                </a:solidFill>
              </a:rPr>
              <a:t>Roadmapping</a:t>
            </a:r>
            <a:endParaRPr lang="de-DE" sz="1400" dirty="0">
              <a:solidFill>
                <a:srgbClr val="00C896"/>
              </a:solidFill>
            </a:endParaRPr>
          </a:p>
        </p:txBody>
      </p:sp>
      <p:grpSp>
        <p:nvGrpSpPr>
          <p:cNvPr id="33" name="Gruppieren 32">
            <a:extLst>
              <a:ext uri="{FF2B5EF4-FFF2-40B4-BE49-F238E27FC236}">
                <a16:creationId xmlns:a16="http://schemas.microsoft.com/office/drawing/2014/main" id="{3EE63696-AC08-9132-8F90-62C07C1376F4}"/>
              </a:ext>
            </a:extLst>
          </p:cNvPr>
          <p:cNvGrpSpPr/>
          <p:nvPr/>
        </p:nvGrpSpPr>
        <p:grpSpPr>
          <a:xfrm>
            <a:off x="6272982" y="1905000"/>
            <a:ext cx="2680203" cy="3937000"/>
            <a:chOff x="6272982" y="1864688"/>
            <a:chExt cx="2680203" cy="3937000"/>
          </a:xfrm>
        </p:grpSpPr>
        <p:sp>
          <p:nvSpPr>
            <p:cNvPr id="8" name="Abgerundetes Rechteck 7">
              <a:extLst>
                <a:ext uri="{FF2B5EF4-FFF2-40B4-BE49-F238E27FC236}">
                  <a16:creationId xmlns:a16="http://schemas.microsoft.com/office/drawing/2014/main" id="{4EDB3642-80A2-2545-A453-35DC7EE3FC99}"/>
                </a:ext>
              </a:extLst>
            </p:cNvPr>
            <p:cNvSpPr/>
            <p:nvPr/>
          </p:nvSpPr>
          <p:spPr>
            <a:xfrm>
              <a:off x="6272982" y="1864688"/>
              <a:ext cx="2680203" cy="3937000"/>
            </a:xfrm>
            <a:prstGeom prst="roundRect">
              <a:avLst>
                <a:gd name="adj" fmla="val 3982"/>
              </a:avLst>
            </a:prstGeom>
            <a:solidFill>
              <a:srgbClr val="131B2E"/>
            </a:solidFill>
            <a:ln w="12700" cap="flat" cmpd="sng" algn="ctr">
              <a:solidFill>
                <a:srgbClr val="1E2A4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10" name="Textfeld 9">
              <a:extLst>
                <a:ext uri="{FF2B5EF4-FFF2-40B4-BE49-F238E27FC236}">
                  <a16:creationId xmlns:a16="http://schemas.microsoft.com/office/drawing/2014/main" id="{08190863-0E99-6348-AE77-A56BF94F99F4}"/>
                </a:ext>
              </a:extLst>
            </p:cNvPr>
            <p:cNvSpPr txBox="1"/>
            <p:nvPr/>
          </p:nvSpPr>
          <p:spPr>
            <a:xfrm>
              <a:off x="6463482" y="2690188"/>
              <a:ext cx="2348620" cy="646331"/>
            </a:xfrm>
            <a:prstGeom prst="rect">
              <a:avLst/>
            </a:prstGeom>
            <a:noFill/>
          </p:spPr>
          <p:txBody>
            <a:bodyPr vertOverflow="overflow" vert="horz" wrap="square" rtlCol="0" anchor="t">
              <a:spAutoFit/>
            </a:bodyPr>
            <a:lstStyle/>
            <a:p>
              <a:pPr algn="l"/>
              <a:r>
                <a:rPr lang="de-DE" b="1" dirty="0">
                  <a:solidFill>
                    <a:srgbClr val="FFFFFF"/>
                  </a:solidFill>
                </a:rPr>
                <a:t>Software-
</a:t>
              </a:r>
              <a:r>
                <a:rPr lang="de-DE" b="1" dirty="0" err="1">
                  <a:solidFill>
                    <a:srgbClr val="FFFFFF"/>
                  </a:solidFill>
                </a:rPr>
                <a:t>Prototyping</a:t>
              </a:r>
              <a:endParaRPr lang="de-DE" b="1" dirty="0">
                <a:solidFill>
                  <a:srgbClr val="FFFFFF"/>
                </a:solidFill>
              </a:endParaRPr>
            </a:p>
          </p:txBody>
        </p:sp>
        <p:sp>
          <p:nvSpPr>
            <p:cNvPr id="11" name="Textfeld 10">
              <a:extLst>
                <a:ext uri="{FF2B5EF4-FFF2-40B4-BE49-F238E27FC236}">
                  <a16:creationId xmlns:a16="http://schemas.microsoft.com/office/drawing/2014/main" id="{D8FC06F2-6837-704C-B261-F0F515842A7B}"/>
                </a:ext>
              </a:extLst>
            </p:cNvPr>
            <p:cNvSpPr txBox="1"/>
            <p:nvPr/>
          </p:nvSpPr>
          <p:spPr>
            <a:xfrm>
              <a:off x="6463482" y="3452188"/>
              <a:ext cx="2430101" cy="1169551"/>
            </a:xfrm>
            <a:prstGeom prst="rect">
              <a:avLst/>
            </a:prstGeom>
            <a:noFill/>
          </p:spPr>
          <p:txBody>
            <a:bodyPr vertOverflow="overflow" vert="horz" wrap="square" rtlCol="0" anchor="t">
              <a:spAutoFit/>
            </a:bodyPr>
            <a:lstStyle/>
            <a:p>
              <a:pPr algn="l"/>
              <a:r>
                <a:rPr lang="de-DE" sz="1400" dirty="0">
                  <a:solidFill>
                    <a:srgbClr val="8B95A8"/>
                  </a:solidFill>
                  <a:effectLst/>
                  <a:latin typeface="Inter" panose="02110004020202020204"/>
                </a:rPr>
                <a:t>Vom Konzept bis zum lauffähigen Code - in wenigen Wochen statt Monaten.</a:t>
              </a:r>
              <a:br>
                <a:rPr lang="de-DE" sz="1400" dirty="0">
                  <a:solidFill>
                    <a:srgbClr val="8B95A8"/>
                  </a:solidFill>
                  <a:effectLst/>
                  <a:latin typeface="Inter" panose="02110004020202020204"/>
                </a:rPr>
              </a:br>
              <a:r>
                <a:rPr lang="de-DE" sz="1400" dirty="0">
                  <a:solidFill>
                    <a:srgbClr val="8B95A8"/>
                  </a:solidFill>
                  <a:effectLst/>
                  <a:latin typeface="Inter" panose="02110004020202020204"/>
                </a:rPr>
                <a:t>Funktionierende MVPs und Proof-of-</a:t>
              </a:r>
              <a:r>
                <a:rPr lang="de-DE" sz="1400" dirty="0" err="1">
                  <a:solidFill>
                    <a:srgbClr val="8B95A8"/>
                  </a:solidFill>
                  <a:effectLst/>
                  <a:latin typeface="Inter" panose="02110004020202020204"/>
                </a:rPr>
                <a:t>Concepts</a:t>
              </a:r>
              <a:r>
                <a:rPr lang="de-DE" sz="1400" dirty="0">
                  <a:solidFill>
                    <a:srgbClr val="8B95A8"/>
                  </a:solidFill>
                  <a:effectLst/>
                  <a:latin typeface="Inter" panose="02110004020202020204"/>
                </a:rPr>
                <a:t>.</a:t>
              </a:r>
              <a:endParaRPr lang="de-DE" sz="1400" dirty="0">
                <a:solidFill>
                  <a:srgbClr val="8B95A8"/>
                </a:solidFill>
              </a:endParaRPr>
            </a:p>
          </p:txBody>
        </p:sp>
        <p:sp>
          <p:nvSpPr>
            <p:cNvPr id="12" name="Textfeld 11">
              <a:extLst>
                <a:ext uri="{FF2B5EF4-FFF2-40B4-BE49-F238E27FC236}">
                  <a16:creationId xmlns:a16="http://schemas.microsoft.com/office/drawing/2014/main" id="{E60F6258-947B-BE40-BF24-AF79DFDC084C}"/>
                </a:ext>
              </a:extLst>
            </p:cNvPr>
            <p:cNvSpPr txBox="1"/>
            <p:nvPr/>
          </p:nvSpPr>
          <p:spPr>
            <a:xfrm>
              <a:off x="6463482" y="4722188"/>
              <a:ext cx="2319764" cy="954107"/>
            </a:xfrm>
            <a:prstGeom prst="rect">
              <a:avLst/>
            </a:prstGeom>
            <a:noFill/>
          </p:spPr>
          <p:txBody>
            <a:bodyPr vertOverflow="overflow" vert="horz" wrap="square" rtlCol="0" anchor="t">
              <a:spAutoFit/>
            </a:bodyPr>
            <a:lstStyle/>
            <a:p>
              <a:pPr algn="l"/>
              <a:r>
                <a:rPr lang="de-DE" sz="1400" dirty="0">
                  <a:solidFill>
                    <a:srgbClr val="00C896"/>
                  </a:solidFill>
                </a:rPr>
                <a:t>Anforderungen</a:t>
              </a:r>
            </a:p>
            <a:p>
              <a:pPr algn="l"/>
              <a:r>
                <a:rPr lang="de-DE" sz="1400" dirty="0">
                  <a:solidFill>
                    <a:srgbClr val="00C896"/>
                  </a:solidFill>
                </a:rPr>
                <a:t>Funktionen &amp; Struktur</a:t>
              </a:r>
            </a:p>
            <a:p>
              <a:pPr algn="l"/>
              <a:r>
                <a:rPr lang="de-DE" sz="1400" dirty="0">
                  <a:solidFill>
                    <a:srgbClr val="00C896"/>
                  </a:solidFill>
                </a:rPr>
                <a:t>MVP-Entwicklung</a:t>
              </a:r>
            </a:p>
            <a:p>
              <a:pPr algn="l"/>
              <a:r>
                <a:rPr lang="de-DE" sz="1400" dirty="0">
                  <a:solidFill>
                    <a:srgbClr val="00C896"/>
                  </a:solidFill>
                </a:rPr>
                <a:t>Validierung</a:t>
              </a:r>
            </a:p>
          </p:txBody>
        </p:sp>
      </p:grpSp>
      <p:grpSp>
        <p:nvGrpSpPr>
          <p:cNvPr id="32" name="Gruppieren 31">
            <a:extLst>
              <a:ext uri="{FF2B5EF4-FFF2-40B4-BE49-F238E27FC236}">
                <a16:creationId xmlns:a16="http://schemas.microsoft.com/office/drawing/2014/main" id="{DD9B3BD3-69EF-4DC5-30F0-F2690CC4717C}"/>
              </a:ext>
            </a:extLst>
          </p:cNvPr>
          <p:cNvGrpSpPr/>
          <p:nvPr/>
        </p:nvGrpSpPr>
        <p:grpSpPr>
          <a:xfrm>
            <a:off x="3275216" y="1905000"/>
            <a:ext cx="2680203" cy="3937000"/>
            <a:chOff x="3275216" y="1905000"/>
            <a:chExt cx="2680203" cy="3937000"/>
          </a:xfrm>
        </p:grpSpPr>
        <p:sp>
          <p:nvSpPr>
            <p:cNvPr id="13" name="Abgerundetes Rechteck 12">
              <a:extLst>
                <a:ext uri="{FF2B5EF4-FFF2-40B4-BE49-F238E27FC236}">
                  <a16:creationId xmlns:a16="http://schemas.microsoft.com/office/drawing/2014/main" id="{38032C87-E1E8-E646-93E5-A2975A074E19}"/>
                </a:ext>
              </a:extLst>
            </p:cNvPr>
            <p:cNvSpPr/>
            <p:nvPr/>
          </p:nvSpPr>
          <p:spPr>
            <a:xfrm>
              <a:off x="3275216" y="1905000"/>
              <a:ext cx="2680203" cy="3937000"/>
            </a:xfrm>
            <a:prstGeom prst="roundRect">
              <a:avLst>
                <a:gd name="adj" fmla="val 5974"/>
              </a:avLst>
            </a:prstGeom>
            <a:solidFill>
              <a:srgbClr val="131B2E"/>
            </a:solidFill>
            <a:ln w="12700" cap="flat" cmpd="sng" algn="ctr">
              <a:solidFill>
                <a:srgbClr val="1E2A4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15" name="Textfeld 14">
              <a:extLst>
                <a:ext uri="{FF2B5EF4-FFF2-40B4-BE49-F238E27FC236}">
                  <a16:creationId xmlns:a16="http://schemas.microsoft.com/office/drawing/2014/main" id="{7040795C-BDE0-FC4B-B713-9529F6CB5AF8}"/>
                </a:ext>
              </a:extLst>
            </p:cNvPr>
            <p:cNvSpPr txBox="1"/>
            <p:nvPr/>
          </p:nvSpPr>
          <p:spPr>
            <a:xfrm>
              <a:off x="3465716" y="2730500"/>
              <a:ext cx="2373580" cy="646331"/>
            </a:xfrm>
            <a:prstGeom prst="rect">
              <a:avLst/>
            </a:prstGeom>
            <a:noFill/>
          </p:spPr>
          <p:txBody>
            <a:bodyPr vertOverflow="overflow" vert="horz" wrap="square" rtlCol="0" anchor="t">
              <a:spAutoFit/>
            </a:bodyPr>
            <a:lstStyle/>
            <a:p>
              <a:pPr algn="l"/>
              <a:r>
                <a:rPr lang="de-DE" b="1" dirty="0">
                  <a:solidFill>
                    <a:srgbClr val="FFFFFF"/>
                  </a:solidFill>
                </a:rPr>
                <a:t>Go-</a:t>
              </a:r>
              <a:r>
                <a:rPr lang="de-DE" b="1" dirty="0" err="1">
                  <a:solidFill>
                    <a:srgbClr val="FFFFFF"/>
                  </a:solidFill>
                </a:rPr>
                <a:t>to</a:t>
              </a:r>
              <a:r>
                <a:rPr lang="de-DE" b="1" dirty="0">
                  <a:solidFill>
                    <a:srgbClr val="FFFFFF"/>
                  </a:solidFill>
                </a:rPr>
                <a:t>-Market
Beratung</a:t>
              </a:r>
            </a:p>
          </p:txBody>
        </p:sp>
        <p:sp>
          <p:nvSpPr>
            <p:cNvPr id="16" name="Textfeld 15">
              <a:extLst>
                <a:ext uri="{FF2B5EF4-FFF2-40B4-BE49-F238E27FC236}">
                  <a16:creationId xmlns:a16="http://schemas.microsoft.com/office/drawing/2014/main" id="{A1D5C0A5-E2BA-1D44-9FF2-B0410D5C81BA}"/>
                </a:ext>
              </a:extLst>
            </p:cNvPr>
            <p:cNvSpPr txBox="1"/>
            <p:nvPr/>
          </p:nvSpPr>
          <p:spPr>
            <a:xfrm>
              <a:off x="3465716" y="3492500"/>
              <a:ext cx="2292099" cy="954107"/>
            </a:xfrm>
            <a:prstGeom prst="rect">
              <a:avLst/>
            </a:prstGeom>
            <a:noFill/>
          </p:spPr>
          <p:txBody>
            <a:bodyPr vertOverflow="overflow" vert="horz" wrap="square" rtlCol="0" anchor="t">
              <a:spAutoFit/>
            </a:bodyPr>
            <a:lstStyle/>
            <a:p>
              <a:pPr algn="l"/>
              <a:r>
                <a:rPr lang="de-DE" sz="1400" dirty="0">
                  <a:solidFill>
                    <a:srgbClr val="8B95A8"/>
                  </a:solidFill>
                </a:rPr>
                <a:t>Technologie allein gewinnt keinen Markt.
Von der Idee bis zum Market-</a:t>
              </a:r>
              <a:r>
                <a:rPr lang="de-DE" sz="1400" dirty="0" err="1">
                  <a:solidFill>
                    <a:srgbClr val="8B95A8"/>
                  </a:solidFill>
                </a:rPr>
                <a:t>Prove</a:t>
              </a:r>
              <a:r>
                <a:rPr lang="de-DE" sz="1400" dirty="0">
                  <a:solidFill>
                    <a:srgbClr val="8B95A8"/>
                  </a:solidFill>
                </a:rPr>
                <a:t>.</a:t>
              </a:r>
            </a:p>
          </p:txBody>
        </p:sp>
        <p:sp>
          <p:nvSpPr>
            <p:cNvPr id="17" name="Textfeld 16">
              <a:extLst>
                <a:ext uri="{FF2B5EF4-FFF2-40B4-BE49-F238E27FC236}">
                  <a16:creationId xmlns:a16="http://schemas.microsoft.com/office/drawing/2014/main" id="{4A5E3764-58D4-C74B-9EAB-C402569F4986}"/>
                </a:ext>
              </a:extLst>
            </p:cNvPr>
            <p:cNvSpPr txBox="1"/>
            <p:nvPr/>
          </p:nvSpPr>
          <p:spPr>
            <a:xfrm>
              <a:off x="3465716" y="4744519"/>
              <a:ext cx="2373580" cy="738664"/>
            </a:xfrm>
            <a:prstGeom prst="rect">
              <a:avLst/>
            </a:prstGeom>
            <a:noFill/>
          </p:spPr>
          <p:txBody>
            <a:bodyPr vertOverflow="overflow" vert="horz" wrap="square" rtlCol="0" anchor="t">
              <a:spAutoFit/>
            </a:bodyPr>
            <a:lstStyle/>
            <a:p>
              <a:pPr algn="l"/>
              <a:r>
                <a:rPr lang="de-DE" sz="1400" dirty="0">
                  <a:solidFill>
                    <a:srgbClr val="00C896"/>
                  </a:solidFill>
                </a:rPr>
                <a:t>Markt &amp; Positionierung
Business Model</a:t>
              </a:r>
            </a:p>
            <a:p>
              <a:pPr algn="l"/>
              <a:r>
                <a:rPr lang="de-DE" sz="1400" dirty="0">
                  <a:solidFill>
                    <a:srgbClr val="00C896"/>
                  </a:solidFill>
                </a:rPr>
                <a:t>Launch-Strategie</a:t>
              </a:r>
            </a:p>
          </p:txBody>
        </p:sp>
      </p:grpSp>
      <p:grpSp>
        <p:nvGrpSpPr>
          <p:cNvPr id="34" name="Gruppieren 33">
            <a:extLst>
              <a:ext uri="{FF2B5EF4-FFF2-40B4-BE49-F238E27FC236}">
                <a16:creationId xmlns:a16="http://schemas.microsoft.com/office/drawing/2014/main" id="{474EC1E2-464D-CEB1-08EC-0276A1507EED}"/>
              </a:ext>
            </a:extLst>
          </p:cNvPr>
          <p:cNvGrpSpPr/>
          <p:nvPr/>
        </p:nvGrpSpPr>
        <p:grpSpPr>
          <a:xfrm>
            <a:off x="9270748" y="1905000"/>
            <a:ext cx="2680203" cy="3937000"/>
            <a:chOff x="9270748" y="1905000"/>
            <a:chExt cx="2680203" cy="3937000"/>
          </a:xfrm>
        </p:grpSpPr>
        <p:sp>
          <p:nvSpPr>
            <p:cNvPr id="22" name="Abgerundetes Rechteck 21">
              <a:extLst>
                <a:ext uri="{FF2B5EF4-FFF2-40B4-BE49-F238E27FC236}">
                  <a16:creationId xmlns:a16="http://schemas.microsoft.com/office/drawing/2014/main" id="{5BEA37D4-FE67-4497-FBC9-44C0189661D7}"/>
                </a:ext>
              </a:extLst>
            </p:cNvPr>
            <p:cNvSpPr/>
            <p:nvPr/>
          </p:nvSpPr>
          <p:spPr>
            <a:xfrm>
              <a:off x="9270748" y="1905000"/>
              <a:ext cx="2680203" cy="3937000"/>
            </a:xfrm>
            <a:prstGeom prst="roundRect">
              <a:avLst>
                <a:gd name="adj" fmla="val 5974"/>
              </a:avLst>
            </a:prstGeom>
            <a:solidFill>
              <a:srgbClr val="131B2E"/>
            </a:solidFill>
            <a:ln w="12700" cap="flat" cmpd="sng" algn="ctr">
              <a:solidFill>
                <a:srgbClr val="1E2A4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24" name="Textfeld 23">
              <a:extLst>
                <a:ext uri="{FF2B5EF4-FFF2-40B4-BE49-F238E27FC236}">
                  <a16:creationId xmlns:a16="http://schemas.microsoft.com/office/drawing/2014/main" id="{965DDA0F-F318-0CAE-80D0-555777D8927C}"/>
                </a:ext>
              </a:extLst>
            </p:cNvPr>
            <p:cNvSpPr txBox="1"/>
            <p:nvPr/>
          </p:nvSpPr>
          <p:spPr>
            <a:xfrm>
              <a:off x="9461248" y="2730500"/>
              <a:ext cx="2416899" cy="369332"/>
            </a:xfrm>
            <a:prstGeom prst="rect">
              <a:avLst/>
            </a:prstGeom>
            <a:noFill/>
          </p:spPr>
          <p:txBody>
            <a:bodyPr vertOverflow="overflow" vert="horz" wrap="square" rtlCol="0" anchor="t">
              <a:spAutoFit/>
            </a:bodyPr>
            <a:lstStyle/>
            <a:p>
              <a:pPr algn="l"/>
              <a:r>
                <a:rPr lang="de-DE" b="1" dirty="0">
                  <a:solidFill>
                    <a:srgbClr val="FFFFFF"/>
                  </a:solidFill>
                </a:rPr>
                <a:t>Unternehmensaufbau</a:t>
              </a:r>
            </a:p>
          </p:txBody>
        </p:sp>
        <p:sp>
          <p:nvSpPr>
            <p:cNvPr id="25" name="Textfeld 24">
              <a:extLst>
                <a:ext uri="{FF2B5EF4-FFF2-40B4-BE49-F238E27FC236}">
                  <a16:creationId xmlns:a16="http://schemas.microsoft.com/office/drawing/2014/main" id="{BD6C5FD4-F097-23E3-BF61-46D101EF9F98}"/>
                </a:ext>
              </a:extLst>
            </p:cNvPr>
            <p:cNvSpPr txBox="1"/>
            <p:nvPr/>
          </p:nvSpPr>
          <p:spPr>
            <a:xfrm>
              <a:off x="9461248" y="3492500"/>
              <a:ext cx="2416899" cy="954107"/>
            </a:xfrm>
            <a:prstGeom prst="rect">
              <a:avLst/>
            </a:prstGeom>
            <a:noFill/>
          </p:spPr>
          <p:txBody>
            <a:bodyPr vertOverflow="overflow" vert="horz" wrap="square" rtlCol="0" anchor="t">
              <a:spAutoFit/>
            </a:bodyPr>
            <a:lstStyle/>
            <a:p>
              <a:pPr marL="0" indent="0" algn="l" rtl="0" eaLnBrk="1" latinLnBrk="0" hangingPunct="1">
                <a:buNone/>
              </a:pPr>
              <a:r>
                <a:rPr lang="de-DE" sz="1400" dirty="0">
                  <a:solidFill>
                    <a:srgbClr val="8B95A8"/>
                  </a:solidFill>
                  <a:effectLst/>
                  <a:latin typeface="Inter" panose="02110004020202020204"/>
                </a:rPr>
                <a:t>Wachstum erfordert flexible Strukturen.</a:t>
              </a:r>
            </a:p>
            <a:p>
              <a:pPr marL="0" indent="0" algn="l" rtl="0" eaLnBrk="1" latinLnBrk="0" hangingPunct="1">
                <a:buNone/>
              </a:pPr>
              <a:r>
                <a:rPr lang="de-DE" sz="1400" dirty="0">
                  <a:solidFill>
                    <a:srgbClr val="8B95A8"/>
                  </a:solidFill>
                  <a:effectLst/>
                  <a:latin typeface="Inter" panose="02110004020202020204"/>
                </a:rPr>
                <a:t>Vom Market-</a:t>
              </a:r>
              <a:r>
                <a:rPr lang="de-DE" sz="1400" dirty="0" err="1">
                  <a:solidFill>
                    <a:srgbClr val="8B95A8"/>
                  </a:solidFill>
                  <a:effectLst/>
                  <a:latin typeface="Inter" panose="02110004020202020204"/>
                </a:rPr>
                <a:t>Prove</a:t>
              </a:r>
              <a:r>
                <a:rPr lang="de-DE" sz="1400" dirty="0">
                  <a:solidFill>
                    <a:srgbClr val="8B95A8"/>
                  </a:solidFill>
                  <a:effectLst/>
                  <a:latin typeface="Inter" panose="02110004020202020204"/>
                </a:rPr>
                <a:t> in die Skalierung.</a:t>
              </a:r>
              <a:endParaRPr lang="de-DE" sz="1400" dirty="0">
                <a:solidFill>
                  <a:srgbClr val="8B95A8"/>
                </a:solidFill>
              </a:endParaRPr>
            </a:p>
          </p:txBody>
        </p:sp>
        <p:sp>
          <p:nvSpPr>
            <p:cNvPr id="26" name="Textfeld 25">
              <a:extLst>
                <a:ext uri="{FF2B5EF4-FFF2-40B4-BE49-F238E27FC236}">
                  <a16:creationId xmlns:a16="http://schemas.microsoft.com/office/drawing/2014/main" id="{C67E720C-DE5E-03D3-51D7-2C93EC42E770}"/>
                </a:ext>
              </a:extLst>
            </p:cNvPr>
            <p:cNvSpPr txBox="1"/>
            <p:nvPr/>
          </p:nvSpPr>
          <p:spPr>
            <a:xfrm>
              <a:off x="9461248" y="4744519"/>
              <a:ext cx="2489703" cy="954107"/>
            </a:xfrm>
            <a:prstGeom prst="rect">
              <a:avLst/>
            </a:prstGeom>
            <a:noFill/>
          </p:spPr>
          <p:txBody>
            <a:bodyPr vertOverflow="overflow" vert="horz" wrap="square" rtlCol="0" anchor="t">
              <a:spAutoFit/>
            </a:bodyPr>
            <a:lstStyle/>
            <a:p>
              <a:pPr algn="l"/>
              <a:r>
                <a:rPr lang="de-DE" sz="1400" dirty="0">
                  <a:solidFill>
                    <a:srgbClr val="00C896"/>
                  </a:solidFill>
                </a:rPr>
                <a:t>Gründungs-Framework</a:t>
              </a:r>
            </a:p>
            <a:p>
              <a:pPr algn="l"/>
              <a:r>
                <a:rPr lang="de-DE" sz="1400" dirty="0">
                  <a:solidFill>
                    <a:srgbClr val="00C896"/>
                  </a:solidFill>
                </a:rPr>
                <a:t>Team &amp; </a:t>
              </a:r>
              <a:r>
                <a:rPr lang="de-DE" sz="1400" dirty="0" err="1">
                  <a:solidFill>
                    <a:srgbClr val="00C896"/>
                  </a:solidFill>
                </a:rPr>
                <a:t>Orga</a:t>
              </a:r>
              <a:endParaRPr lang="de-DE" sz="1400" dirty="0">
                <a:solidFill>
                  <a:srgbClr val="00C896"/>
                </a:solidFill>
              </a:endParaRPr>
            </a:p>
            <a:p>
              <a:pPr algn="l"/>
              <a:r>
                <a:rPr lang="de-DE" sz="1400" dirty="0">
                  <a:solidFill>
                    <a:srgbClr val="00C896"/>
                  </a:solidFill>
                </a:rPr>
                <a:t>Prozesse &amp; Tools</a:t>
              </a:r>
            </a:p>
            <a:p>
              <a:r>
                <a:rPr lang="de-DE" sz="1400" dirty="0">
                  <a:solidFill>
                    <a:srgbClr val="00C896"/>
                  </a:solidFill>
                </a:rPr>
                <a:t>Finanzierung &amp; Controlling</a:t>
              </a:r>
            </a:p>
          </p:txBody>
        </p:sp>
      </p:grpSp>
      <p:grpSp>
        <p:nvGrpSpPr>
          <p:cNvPr id="37" name="Gruppieren 36">
            <a:extLst>
              <a:ext uri="{FF2B5EF4-FFF2-40B4-BE49-F238E27FC236}">
                <a16:creationId xmlns:a16="http://schemas.microsoft.com/office/drawing/2014/main" id="{75CA9FA9-37ED-E282-A1AB-030E180FCDDC}"/>
              </a:ext>
            </a:extLst>
          </p:cNvPr>
          <p:cNvGrpSpPr/>
          <p:nvPr/>
        </p:nvGrpSpPr>
        <p:grpSpPr>
          <a:xfrm>
            <a:off x="3091192" y="1239721"/>
            <a:ext cx="9012823" cy="4840567"/>
            <a:chOff x="3091192" y="1239721"/>
            <a:chExt cx="9012823" cy="4840567"/>
          </a:xfrm>
        </p:grpSpPr>
        <p:sp>
          <p:nvSpPr>
            <p:cNvPr id="35" name="Abgerundetes Rechteck 34">
              <a:extLst>
                <a:ext uri="{FF2B5EF4-FFF2-40B4-BE49-F238E27FC236}">
                  <a16:creationId xmlns:a16="http://schemas.microsoft.com/office/drawing/2014/main" id="{06CC7604-55DA-FEA4-DD74-4205CA90FCBF}"/>
                </a:ext>
              </a:extLst>
            </p:cNvPr>
            <p:cNvSpPr/>
            <p:nvPr/>
          </p:nvSpPr>
          <p:spPr>
            <a:xfrm>
              <a:off x="3091192" y="1690687"/>
              <a:ext cx="9012823" cy="4389601"/>
            </a:xfrm>
            <a:prstGeom prst="roundRect">
              <a:avLst>
                <a:gd name="adj" fmla="val 4796"/>
              </a:avLst>
            </a:prstGeom>
            <a:noFill/>
            <a:ln w="19050" cap="flat" cmpd="sng" algn="ctr">
              <a:solidFill>
                <a:srgbClr val="F59E0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36" name="Textfeld 35">
              <a:extLst>
                <a:ext uri="{FF2B5EF4-FFF2-40B4-BE49-F238E27FC236}">
                  <a16:creationId xmlns:a16="http://schemas.microsoft.com/office/drawing/2014/main" id="{670D51A9-1A62-F446-104A-AA003625A568}"/>
                </a:ext>
              </a:extLst>
            </p:cNvPr>
            <p:cNvSpPr txBox="1"/>
            <p:nvPr/>
          </p:nvSpPr>
          <p:spPr>
            <a:xfrm>
              <a:off x="3217815" y="1239721"/>
              <a:ext cx="5080000" cy="338554"/>
            </a:xfrm>
            <a:prstGeom prst="rect">
              <a:avLst/>
            </a:prstGeom>
            <a:noFill/>
          </p:spPr>
          <p:txBody>
            <a:bodyPr vertOverflow="overflow" vert="horz" wrap="square" rtlCol="0" anchor="t">
              <a:spAutoFit/>
            </a:bodyPr>
            <a:lstStyle/>
            <a:p>
              <a:pPr algn="l"/>
              <a:r>
                <a:rPr lang="de-DE" sz="1600" b="1" dirty="0">
                  <a:solidFill>
                    <a:srgbClr val="F59E0B"/>
                  </a:solidFill>
                </a:rPr>
                <a:t>Inkubationsprogramm</a:t>
              </a:r>
            </a:p>
          </p:txBody>
        </p:sp>
      </p:grpSp>
    </p:spTree>
    <p:extLst>
      <p:ext uri="{BB962C8B-B14F-4D97-AF65-F5344CB8AC3E}">
        <p14:creationId xmlns:p14="http://schemas.microsoft.com/office/powerpoint/2010/main" val="3773551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1500"/>
                                  </p:stCondLst>
                                  <p:childTnLst>
                                    <p:set>
                                      <p:cBhvr>
                                        <p:cTn id="9" dur="1" fill="hold">
                                          <p:stCondLst>
                                            <p:cond delay="0"/>
                                          </p:stCondLst>
                                        </p:cTn>
                                        <p:tgtEl>
                                          <p:spTgt spid="32"/>
                                        </p:tgtEl>
                                        <p:attrNameLst>
                                          <p:attrName>style.visibility</p:attrName>
                                        </p:attrNameLst>
                                      </p:cBhvr>
                                      <p:to>
                                        <p:strVal val="visible"/>
                                      </p:to>
                                    </p:set>
                                  </p:childTnLst>
                                </p:cTn>
                              </p:par>
                            </p:childTnLst>
                          </p:cTn>
                        </p:par>
                        <p:par>
                          <p:cTn id="10" fill="hold">
                            <p:stCondLst>
                              <p:cond delay="1500"/>
                            </p:stCondLst>
                            <p:childTnLst>
                              <p:par>
                                <p:cTn id="11" presetID="1" presetClass="entr" presetSubtype="0" fill="hold" nodeType="afterEffect">
                                  <p:stCondLst>
                                    <p:cond delay="1500"/>
                                  </p:stCondLst>
                                  <p:childTnLst>
                                    <p:set>
                                      <p:cBhvr>
                                        <p:cTn id="12" dur="1" fill="hold">
                                          <p:stCondLst>
                                            <p:cond delay="0"/>
                                          </p:stCondLst>
                                        </p:cTn>
                                        <p:tgtEl>
                                          <p:spTgt spid="33"/>
                                        </p:tgtEl>
                                        <p:attrNameLst>
                                          <p:attrName>style.visibility</p:attrName>
                                        </p:attrNameLst>
                                      </p:cBhvr>
                                      <p:to>
                                        <p:strVal val="visible"/>
                                      </p:to>
                                    </p:set>
                                  </p:childTnLst>
                                </p:cTn>
                              </p:par>
                            </p:childTnLst>
                          </p:cTn>
                        </p:par>
                        <p:par>
                          <p:cTn id="13" fill="hold">
                            <p:stCondLst>
                              <p:cond delay="3000"/>
                            </p:stCondLst>
                            <p:childTnLst>
                              <p:par>
                                <p:cTn id="14" presetID="1" presetClass="entr" presetSubtype="0" fill="hold" nodeType="afterEffect">
                                  <p:stCondLst>
                                    <p:cond delay="1500"/>
                                  </p:stCondLst>
                                  <p:childTnLst>
                                    <p:set>
                                      <p:cBhvr>
                                        <p:cTn id="15"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90AC457-970F-1401-D07E-B4CDD0BCE53A}"/>
              </a:ext>
            </a:extLst>
          </p:cNvPr>
          <p:cNvSpPr>
            <a:spLocks noGrp="1"/>
          </p:cNvSpPr>
          <p:nvPr>
            <p:ph type="title"/>
          </p:nvPr>
        </p:nvSpPr>
        <p:spPr>
          <a:xfrm>
            <a:off x="723900" y="365125"/>
            <a:ext cx="10515600" cy="1325563"/>
          </a:xfrm>
        </p:spPr>
        <p:txBody>
          <a:bodyPr>
            <a:normAutofit/>
          </a:bodyPr>
          <a:lstStyle/>
          <a:p>
            <a:r>
              <a:rPr lang="de-DE" sz="3200" b="1" dirty="0"/>
              <a:t>KI-Strategieberatung</a:t>
            </a:r>
          </a:p>
        </p:txBody>
      </p:sp>
      <p:sp>
        <p:nvSpPr>
          <p:cNvPr id="3" name="Textfeld 2">
            <a:extLst>
              <a:ext uri="{FF2B5EF4-FFF2-40B4-BE49-F238E27FC236}">
                <a16:creationId xmlns:a16="http://schemas.microsoft.com/office/drawing/2014/main" id="{5D927C50-77DC-6F45-B371-33EC8683C02D}"/>
              </a:ext>
            </a:extLst>
          </p:cNvPr>
          <p:cNvSpPr txBox="1"/>
          <p:nvPr/>
        </p:nvSpPr>
        <p:spPr>
          <a:xfrm>
            <a:off x="723900" y="1309688"/>
            <a:ext cx="7418560" cy="338554"/>
          </a:xfrm>
          <a:prstGeom prst="rect">
            <a:avLst/>
          </a:prstGeom>
          <a:noFill/>
        </p:spPr>
        <p:txBody>
          <a:bodyPr vertOverflow="overflow" vert="horz" wrap="square" rtlCol="0" anchor="t">
            <a:spAutoFit/>
          </a:bodyPr>
          <a:lstStyle/>
          <a:p>
            <a:pPr algn="l"/>
            <a:r>
              <a:rPr lang="de-DE" sz="1600" dirty="0">
                <a:solidFill>
                  <a:srgbClr val="8B95A8"/>
                </a:solidFill>
              </a:rPr>
              <a:t>Klarheit vor Komplexität - kein Buzzword-Bingo, sondern Lösungszentrierte Strategie.</a:t>
            </a:r>
          </a:p>
        </p:txBody>
      </p:sp>
      <p:sp>
        <p:nvSpPr>
          <p:cNvPr id="4" name="Abgerundetes Rechteck 3">
            <a:extLst>
              <a:ext uri="{FF2B5EF4-FFF2-40B4-BE49-F238E27FC236}">
                <a16:creationId xmlns:a16="http://schemas.microsoft.com/office/drawing/2014/main" id="{0B36B262-7AC0-7D4C-A8F0-DC40D855031C}"/>
              </a:ext>
            </a:extLst>
          </p:cNvPr>
          <p:cNvSpPr/>
          <p:nvPr/>
        </p:nvSpPr>
        <p:spPr>
          <a:xfrm>
            <a:off x="723900" y="2037934"/>
            <a:ext cx="2349500" cy="2286000"/>
          </a:xfrm>
          <a:prstGeom prst="roundRect">
            <a:avLst>
              <a:gd name="adj" fmla="val 7558"/>
            </a:avLst>
          </a:prstGeom>
          <a:solidFill>
            <a:srgbClr val="131B2E"/>
          </a:solidFill>
          <a:ln w="12700" cap="flat" cmpd="sng" algn="ctr">
            <a:solidFill>
              <a:srgbClr val="1E2A4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5" name="Textfeld 4">
            <a:extLst>
              <a:ext uri="{FF2B5EF4-FFF2-40B4-BE49-F238E27FC236}">
                <a16:creationId xmlns:a16="http://schemas.microsoft.com/office/drawing/2014/main" id="{8E7E9D21-84BB-DC45-8A30-9D8C946FE1F9}"/>
              </a:ext>
            </a:extLst>
          </p:cNvPr>
          <p:cNvSpPr txBox="1"/>
          <p:nvPr/>
        </p:nvSpPr>
        <p:spPr>
          <a:xfrm>
            <a:off x="850900" y="2164934"/>
            <a:ext cx="508000" cy="381000"/>
          </a:xfrm>
          <a:prstGeom prst="rect">
            <a:avLst/>
          </a:prstGeom>
          <a:noFill/>
        </p:spPr>
        <p:txBody>
          <a:bodyPr vertOverflow="overflow" vert="horz" wrap="square" rtlCol="0" anchor="t">
            <a:spAutoFit/>
          </a:bodyPr>
          <a:lstStyle/>
          <a:p>
            <a:pPr algn="l"/>
            <a:r>
              <a:rPr lang="de-DE" sz="2000" b="1">
                <a:solidFill>
                  <a:srgbClr val="00C896"/>
                </a:solidFill>
              </a:rPr>
              <a:t>01</a:t>
            </a:r>
          </a:p>
        </p:txBody>
      </p:sp>
      <p:sp>
        <p:nvSpPr>
          <p:cNvPr id="6" name="Textfeld 5">
            <a:extLst>
              <a:ext uri="{FF2B5EF4-FFF2-40B4-BE49-F238E27FC236}">
                <a16:creationId xmlns:a16="http://schemas.microsoft.com/office/drawing/2014/main" id="{DB156EF8-C1CC-A941-BC28-B136B0D9D150}"/>
              </a:ext>
            </a:extLst>
          </p:cNvPr>
          <p:cNvSpPr txBox="1"/>
          <p:nvPr/>
        </p:nvSpPr>
        <p:spPr>
          <a:xfrm>
            <a:off x="850900" y="2609434"/>
            <a:ext cx="2095500" cy="635000"/>
          </a:xfrm>
          <a:prstGeom prst="rect">
            <a:avLst/>
          </a:prstGeom>
          <a:noFill/>
        </p:spPr>
        <p:txBody>
          <a:bodyPr vertOverflow="overflow" vert="horz" wrap="square" rtlCol="0" anchor="t">
            <a:spAutoFit/>
          </a:bodyPr>
          <a:lstStyle/>
          <a:p>
            <a:pPr algn="l"/>
            <a:r>
              <a:rPr lang="de-DE" sz="1600" b="1">
                <a:solidFill>
                  <a:srgbClr val="FFFFFF"/>
                </a:solidFill>
              </a:rPr>
              <a:t>Potenzial-
analyse</a:t>
            </a:r>
          </a:p>
        </p:txBody>
      </p:sp>
      <p:sp>
        <p:nvSpPr>
          <p:cNvPr id="7" name="Textfeld 6">
            <a:extLst>
              <a:ext uri="{FF2B5EF4-FFF2-40B4-BE49-F238E27FC236}">
                <a16:creationId xmlns:a16="http://schemas.microsoft.com/office/drawing/2014/main" id="{1E4DDED9-0570-2442-A8EC-74BFC2EB2AEC}"/>
              </a:ext>
            </a:extLst>
          </p:cNvPr>
          <p:cNvSpPr txBox="1"/>
          <p:nvPr/>
        </p:nvSpPr>
        <p:spPr>
          <a:xfrm>
            <a:off x="850900" y="3307934"/>
            <a:ext cx="2095500" cy="889000"/>
          </a:xfrm>
          <a:prstGeom prst="rect">
            <a:avLst/>
          </a:prstGeom>
          <a:noFill/>
        </p:spPr>
        <p:txBody>
          <a:bodyPr vertOverflow="overflow" vert="horz" wrap="square" rtlCol="0" anchor="t">
            <a:spAutoFit/>
          </a:bodyPr>
          <a:lstStyle/>
          <a:p>
            <a:pPr algn="l"/>
            <a:r>
              <a:rPr lang="de-DE" sz="1400" dirty="0">
                <a:solidFill>
                  <a:srgbClr val="8B95A8"/>
                </a:solidFill>
              </a:rPr>
              <a:t>Identifikation von KI-Anwendungs-feldern in Ihren Prozessen</a:t>
            </a:r>
          </a:p>
        </p:txBody>
      </p:sp>
      <p:grpSp>
        <p:nvGrpSpPr>
          <p:cNvPr id="27" name="Gruppieren 26">
            <a:extLst>
              <a:ext uri="{FF2B5EF4-FFF2-40B4-BE49-F238E27FC236}">
                <a16:creationId xmlns:a16="http://schemas.microsoft.com/office/drawing/2014/main" id="{1E76187E-21EF-362D-20B7-5C81BE7C59CE}"/>
              </a:ext>
            </a:extLst>
          </p:cNvPr>
          <p:cNvGrpSpPr/>
          <p:nvPr/>
        </p:nvGrpSpPr>
        <p:grpSpPr>
          <a:xfrm>
            <a:off x="3213100" y="2037934"/>
            <a:ext cx="2667000" cy="2286000"/>
            <a:chOff x="3213100" y="2037934"/>
            <a:chExt cx="2667000" cy="2286000"/>
          </a:xfrm>
        </p:grpSpPr>
        <p:sp>
          <p:nvSpPr>
            <p:cNvPr id="8" name="Pfeil nach rechts 7">
              <a:extLst>
                <a:ext uri="{FF2B5EF4-FFF2-40B4-BE49-F238E27FC236}">
                  <a16:creationId xmlns:a16="http://schemas.microsoft.com/office/drawing/2014/main" id="{FC4BEC62-3522-6D4E-8CE0-CCC5E156DA57}"/>
                </a:ext>
              </a:extLst>
            </p:cNvPr>
            <p:cNvSpPr/>
            <p:nvPr/>
          </p:nvSpPr>
          <p:spPr>
            <a:xfrm>
              <a:off x="3213100" y="3053934"/>
              <a:ext cx="177800" cy="254000"/>
            </a:xfrm>
            <a:prstGeom prst="rightArrow">
              <a:avLst/>
            </a:prstGeom>
            <a:solidFill>
              <a:srgbClr val="00C89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9" name="Abgerundetes Rechteck 8">
              <a:extLst>
                <a:ext uri="{FF2B5EF4-FFF2-40B4-BE49-F238E27FC236}">
                  <a16:creationId xmlns:a16="http://schemas.microsoft.com/office/drawing/2014/main" id="{D335E33A-B12C-DD48-A5EA-C3E8965ABCB6}"/>
                </a:ext>
              </a:extLst>
            </p:cNvPr>
            <p:cNvSpPr/>
            <p:nvPr/>
          </p:nvSpPr>
          <p:spPr>
            <a:xfrm>
              <a:off x="3530600" y="2037934"/>
              <a:ext cx="2349500" cy="2286000"/>
            </a:xfrm>
            <a:prstGeom prst="roundRect">
              <a:avLst>
                <a:gd name="adj" fmla="val 7162"/>
              </a:avLst>
            </a:prstGeom>
            <a:solidFill>
              <a:srgbClr val="131B2E"/>
            </a:solidFill>
            <a:ln w="12700" cap="flat" cmpd="sng" algn="ctr">
              <a:solidFill>
                <a:srgbClr val="1E2A4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endParaRPr lang="de-DE"/>
            </a:p>
          </p:txBody>
        </p:sp>
        <p:sp>
          <p:nvSpPr>
            <p:cNvPr id="10" name="Textfeld 9">
              <a:extLst>
                <a:ext uri="{FF2B5EF4-FFF2-40B4-BE49-F238E27FC236}">
                  <a16:creationId xmlns:a16="http://schemas.microsoft.com/office/drawing/2014/main" id="{FE336B6C-EBC2-F948-A9F4-CBE154C07DCC}"/>
                </a:ext>
              </a:extLst>
            </p:cNvPr>
            <p:cNvSpPr txBox="1"/>
            <p:nvPr/>
          </p:nvSpPr>
          <p:spPr>
            <a:xfrm>
              <a:off x="3657600" y="2164934"/>
              <a:ext cx="508000" cy="381000"/>
            </a:xfrm>
            <a:prstGeom prst="rect">
              <a:avLst/>
            </a:prstGeom>
            <a:noFill/>
          </p:spPr>
          <p:txBody>
            <a:bodyPr vertOverflow="overflow" vert="horz" wrap="square" rtlCol="0" anchor="t">
              <a:spAutoFit/>
            </a:bodyPr>
            <a:lstStyle/>
            <a:p>
              <a:pPr algn="l"/>
              <a:r>
                <a:rPr lang="de-DE" sz="2000" b="1">
                  <a:solidFill>
                    <a:srgbClr val="00C896"/>
                  </a:solidFill>
                </a:rPr>
                <a:t>02</a:t>
              </a:r>
            </a:p>
          </p:txBody>
        </p:sp>
        <p:sp>
          <p:nvSpPr>
            <p:cNvPr id="11" name="Textfeld 10">
              <a:extLst>
                <a:ext uri="{FF2B5EF4-FFF2-40B4-BE49-F238E27FC236}">
                  <a16:creationId xmlns:a16="http://schemas.microsoft.com/office/drawing/2014/main" id="{07C12E19-86F5-9645-85C1-761FF5810AC2}"/>
                </a:ext>
              </a:extLst>
            </p:cNvPr>
            <p:cNvSpPr txBox="1"/>
            <p:nvPr/>
          </p:nvSpPr>
          <p:spPr>
            <a:xfrm>
              <a:off x="3657600" y="2609434"/>
              <a:ext cx="2095500" cy="635000"/>
            </a:xfrm>
            <a:prstGeom prst="rect">
              <a:avLst/>
            </a:prstGeom>
            <a:noFill/>
          </p:spPr>
          <p:txBody>
            <a:bodyPr vertOverflow="overflow" vert="horz" wrap="square" rtlCol="0" anchor="t">
              <a:spAutoFit/>
            </a:bodyPr>
            <a:lstStyle/>
            <a:p>
              <a:pPr algn="l"/>
              <a:r>
                <a:rPr lang="de-DE" sz="1600" b="1" dirty="0">
                  <a:solidFill>
                    <a:srgbClr val="FFFFFF"/>
                  </a:solidFill>
                </a:rPr>
                <a:t>Machbarkeits-
</a:t>
              </a:r>
              <a:r>
                <a:rPr lang="de-DE" sz="1600" b="1" dirty="0" err="1">
                  <a:solidFill>
                    <a:srgbClr val="FFFFFF"/>
                  </a:solidFill>
                </a:rPr>
                <a:t>bewertung</a:t>
              </a:r>
              <a:endParaRPr lang="de-DE" sz="1600" b="1" dirty="0">
                <a:solidFill>
                  <a:srgbClr val="FFFFFF"/>
                </a:solidFill>
              </a:endParaRPr>
            </a:p>
          </p:txBody>
        </p:sp>
        <p:sp>
          <p:nvSpPr>
            <p:cNvPr id="12" name="Textfeld 11">
              <a:extLst>
                <a:ext uri="{FF2B5EF4-FFF2-40B4-BE49-F238E27FC236}">
                  <a16:creationId xmlns:a16="http://schemas.microsoft.com/office/drawing/2014/main" id="{754AB98D-E6E2-D44F-9266-ED19CC5BCA2D}"/>
                </a:ext>
              </a:extLst>
            </p:cNvPr>
            <p:cNvSpPr txBox="1"/>
            <p:nvPr/>
          </p:nvSpPr>
          <p:spPr>
            <a:xfrm>
              <a:off x="3657600" y="3307934"/>
              <a:ext cx="2095500" cy="889000"/>
            </a:xfrm>
            <a:prstGeom prst="rect">
              <a:avLst/>
            </a:prstGeom>
            <a:noFill/>
          </p:spPr>
          <p:txBody>
            <a:bodyPr vertOverflow="overflow" vert="horz" wrap="square" rtlCol="0" anchor="t">
              <a:spAutoFit/>
            </a:bodyPr>
            <a:lstStyle/>
            <a:p>
              <a:pPr algn="l"/>
              <a:r>
                <a:rPr lang="de-DE" sz="1400" dirty="0">
                  <a:solidFill>
                    <a:srgbClr val="8B95A8"/>
                  </a:solidFill>
                </a:rPr>
                <a:t>Technische und wirtschaftliche Prüfung der Use Cases</a:t>
              </a:r>
            </a:p>
          </p:txBody>
        </p:sp>
      </p:grpSp>
      <p:grpSp>
        <p:nvGrpSpPr>
          <p:cNvPr id="28" name="Gruppieren 27">
            <a:extLst>
              <a:ext uri="{FF2B5EF4-FFF2-40B4-BE49-F238E27FC236}">
                <a16:creationId xmlns:a16="http://schemas.microsoft.com/office/drawing/2014/main" id="{7B0B240F-F709-E621-FEA6-835CCBBBAD1C}"/>
              </a:ext>
            </a:extLst>
          </p:cNvPr>
          <p:cNvGrpSpPr/>
          <p:nvPr/>
        </p:nvGrpSpPr>
        <p:grpSpPr>
          <a:xfrm>
            <a:off x="6019800" y="2037934"/>
            <a:ext cx="2667000" cy="2286000"/>
            <a:chOff x="6019800" y="2037934"/>
            <a:chExt cx="2667000" cy="2286000"/>
          </a:xfrm>
        </p:grpSpPr>
        <p:sp>
          <p:nvSpPr>
            <p:cNvPr id="13" name="Pfeil nach rechts 12">
              <a:extLst>
                <a:ext uri="{FF2B5EF4-FFF2-40B4-BE49-F238E27FC236}">
                  <a16:creationId xmlns:a16="http://schemas.microsoft.com/office/drawing/2014/main" id="{CA2EF832-B4EF-1C4C-87B1-7BCCBDD732FA}"/>
                </a:ext>
              </a:extLst>
            </p:cNvPr>
            <p:cNvSpPr/>
            <p:nvPr/>
          </p:nvSpPr>
          <p:spPr>
            <a:xfrm>
              <a:off x="6019800" y="3053934"/>
              <a:ext cx="177800" cy="254000"/>
            </a:xfrm>
            <a:prstGeom prst="rightArrow">
              <a:avLst/>
            </a:prstGeom>
            <a:solidFill>
              <a:srgbClr val="00C89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14" name="Abgerundetes Rechteck 13">
              <a:extLst>
                <a:ext uri="{FF2B5EF4-FFF2-40B4-BE49-F238E27FC236}">
                  <a16:creationId xmlns:a16="http://schemas.microsoft.com/office/drawing/2014/main" id="{3B948FAB-AC4E-9D46-89D0-BAC57D05F348}"/>
                </a:ext>
              </a:extLst>
            </p:cNvPr>
            <p:cNvSpPr/>
            <p:nvPr/>
          </p:nvSpPr>
          <p:spPr>
            <a:xfrm>
              <a:off x="6337300" y="2037934"/>
              <a:ext cx="2349500" cy="2286000"/>
            </a:xfrm>
            <a:prstGeom prst="roundRect">
              <a:avLst>
                <a:gd name="adj" fmla="val 7162"/>
              </a:avLst>
            </a:prstGeom>
            <a:solidFill>
              <a:srgbClr val="131B2E"/>
            </a:solidFill>
            <a:ln w="12700" cap="flat" cmpd="sng" algn="ctr">
              <a:solidFill>
                <a:srgbClr val="1E2A4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endParaRPr lang="de-DE"/>
            </a:p>
          </p:txBody>
        </p:sp>
        <p:sp>
          <p:nvSpPr>
            <p:cNvPr id="15" name="Textfeld 14">
              <a:extLst>
                <a:ext uri="{FF2B5EF4-FFF2-40B4-BE49-F238E27FC236}">
                  <a16:creationId xmlns:a16="http://schemas.microsoft.com/office/drawing/2014/main" id="{7DEE0605-7605-F248-BEE4-83A5669E55A9}"/>
                </a:ext>
              </a:extLst>
            </p:cNvPr>
            <p:cNvSpPr txBox="1"/>
            <p:nvPr/>
          </p:nvSpPr>
          <p:spPr>
            <a:xfrm>
              <a:off x="6464300" y="2164934"/>
              <a:ext cx="508000" cy="381000"/>
            </a:xfrm>
            <a:prstGeom prst="rect">
              <a:avLst/>
            </a:prstGeom>
            <a:noFill/>
          </p:spPr>
          <p:txBody>
            <a:bodyPr vertOverflow="overflow" vert="horz" wrap="square" rtlCol="0" anchor="t">
              <a:spAutoFit/>
            </a:bodyPr>
            <a:lstStyle/>
            <a:p>
              <a:pPr algn="l"/>
              <a:r>
                <a:rPr lang="de-DE" sz="2000" b="1">
                  <a:solidFill>
                    <a:srgbClr val="00C896"/>
                  </a:solidFill>
                </a:rPr>
                <a:t>03</a:t>
              </a:r>
            </a:p>
          </p:txBody>
        </p:sp>
        <p:sp>
          <p:nvSpPr>
            <p:cNvPr id="21" name="Textfeld 20">
              <a:extLst>
                <a:ext uri="{FF2B5EF4-FFF2-40B4-BE49-F238E27FC236}">
                  <a16:creationId xmlns:a16="http://schemas.microsoft.com/office/drawing/2014/main" id="{0FCF863B-D02B-6647-86A1-F4EA481C3C4C}"/>
                </a:ext>
              </a:extLst>
            </p:cNvPr>
            <p:cNvSpPr txBox="1"/>
            <p:nvPr/>
          </p:nvSpPr>
          <p:spPr>
            <a:xfrm>
              <a:off x="6464300" y="2609434"/>
              <a:ext cx="2095500" cy="635000"/>
            </a:xfrm>
            <a:prstGeom prst="rect">
              <a:avLst/>
            </a:prstGeom>
            <a:noFill/>
          </p:spPr>
          <p:txBody>
            <a:bodyPr vertOverflow="overflow" vert="horz" wrap="square" rtlCol="0" anchor="t">
              <a:spAutoFit/>
            </a:bodyPr>
            <a:lstStyle/>
            <a:p>
              <a:pPr algn="l"/>
              <a:r>
                <a:rPr lang="de-DE" sz="1600" b="1" dirty="0">
                  <a:solidFill>
                    <a:srgbClr val="FFFFFF"/>
                  </a:solidFill>
                </a:rPr>
                <a:t>Use-Case
Design</a:t>
              </a:r>
            </a:p>
          </p:txBody>
        </p:sp>
        <p:sp>
          <p:nvSpPr>
            <p:cNvPr id="22" name="Textfeld 21">
              <a:extLst>
                <a:ext uri="{FF2B5EF4-FFF2-40B4-BE49-F238E27FC236}">
                  <a16:creationId xmlns:a16="http://schemas.microsoft.com/office/drawing/2014/main" id="{ABB9DD85-D6CC-794D-82D4-BA9ECF14D52D}"/>
                </a:ext>
              </a:extLst>
            </p:cNvPr>
            <p:cNvSpPr txBox="1"/>
            <p:nvPr/>
          </p:nvSpPr>
          <p:spPr>
            <a:xfrm>
              <a:off x="6464300" y="3307934"/>
              <a:ext cx="2095500" cy="738664"/>
            </a:xfrm>
            <a:prstGeom prst="rect">
              <a:avLst/>
            </a:prstGeom>
            <a:noFill/>
          </p:spPr>
          <p:txBody>
            <a:bodyPr vertOverflow="overflow" vert="horz" wrap="square" rtlCol="0" anchor="t">
              <a:spAutoFit/>
            </a:bodyPr>
            <a:lstStyle/>
            <a:p>
              <a:pPr algn="l"/>
              <a:r>
                <a:rPr lang="de-DE" sz="1400" dirty="0">
                  <a:solidFill>
                    <a:srgbClr val="8B95A8"/>
                  </a:solidFill>
                </a:rPr>
                <a:t>Exploration von Anwendungsszenarien als Grundlage für </a:t>
              </a:r>
              <a:r>
                <a:rPr lang="de-DE" sz="1400" dirty="0" err="1">
                  <a:solidFill>
                    <a:srgbClr val="8B95A8"/>
                  </a:solidFill>
                </a:rPr>
                <a:t>Prototyping</a:t>
              </a:r>
              <a:endParaRPr lang="de-DE" sz="1400" dirty="0">
                <a:solidFill>
                  <a:srgbClr val="8B95A8"/>
                </a:solidFill>
              </a:endParaRPr>
            </a:p>
          </p:txBody>
        </p:sp>
      </p:grpSp>
      <p:grpSp>
        <p:nvGrpSpPr>
          <p:cNvPr id="26" name="Gruppieren 25">
            <a:extLst>
              <a:ext uri="{FF2B5EF4-FFF2-40B4-BE49-F238E27FC236}">
                <a16:creationId xmlns:a16="http://schemas.microsoft.com/office/drawing/2014/main" id="{3ECB98D2-3464-2165-F038-2C538100CAEC}"/>
              </a:ext>
            </a:extLst>
          </p:cNvPr>
          <p:cNvGrpSpPr/>
          <p:nvPr/>
        </p:nvGrpSpPr>
        <p:grpSpPr>
          <a:xfrm>
            <a:off x="723900" y="4793791"/>
            <a:ext cx="10744200" cy="1168149"/>
            <a:chOff x="723900" y="4793791"/>
            <a:chExt cx="10744200" cy="1168149"/>
          </a:xfrm>
        </p:grpSpPr>
        <p:sp>
          <p:nvSpPr>
            <p:cNvPr id="23" name="Abgerundetes Rechteck 22">
              <a:extLst>
                <a:ext uri="{FF2B5EF4-FFF2-40B4-BE49-F238E27FC236}">
                  <a16:creationId xmlns:a16="http://schemas.microsoft.com/office/drawing/2014/main" id="{AF49C43A-EACF-2543-84D2-08AB73E2BACD}"/>
                </a:ext>
              </a:extLst>
            </p:cNvPr>
            <p:cNvSpPr/>
            <p:nvPr/>
          </p:nvSpPr>
          <p:spPr>
            <a:xfrm>
              <a:off x="723900" y="4793791"/>
              <a:ext cx="10744200" cy="1168149"/>
            </a:xfrm>
            <a:prstGeom prst="roundRect">
              <a:avLst>
                <a:gd name="adj" fmla="val 10467"/>
              </a:avLst>
            </a:prstGeom>
            <a:solidFill>
              <a:srgbClr val="0A2E1F"/>
            </a:solidFill>
            <a:ln w="12700" cap="flat" cmpd="sng" algn="ctr">
              <a:solidFill>
                <a:srgbClr val="00C89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24" name="Textfeld 23">
              <a:extLst>
                <a:ext uri="{FF2B5EF4-FFF2-40B4-BE49-F238E27FC236}">
                  <a16:creationId xmlns:a16="http://schemas.microsoft.com/office/drawing/2014/main" id="{C7280CED-AF9F-9044-86FE-EF6DFEAB8202}"/>
                </a:ext>
              </a:extLst>
            </p:cNvPr>
            <p:cNvSpPr txBox="1"/>
            <p:nvPr/>
          </p:nvSpPr>
          <p:spPr>
            <a:xfrm>
              <a:off x="952500" y="4895391"/>
              <a:ext cx="1270000" cy="355600"/>
            </a:xfrm>
            <a:prstGeom prst="rect">
              <a:avLst/>
            </a:prstGeom>
            <a:noFill/>
          </p:spPr>
          <p:txBody>
            <a:bodyPr vertOverflow="overflow" vert="horz" wrap="square" rtlCol="0" anchor="t">
              <a:spAutoFit/>
            </a:bodyPr>
            <a:lstStyle/>
            <a:p>
              <a:pPr algn="l"/>
              <a:r>
                <a:rPr lang="de-DE" sz="1400" b="1">
                  <a:solidFill>
                    <a:srgbClr val="00C896"/>
                  </a:solidFill>
                </a:rPr>
                <a:t>Ergebnis</a:t>
              </a:r>
            </a:p>
          </p:txBody>
        </p:sp>
        <p:sp>
          <p:nvSpPr>
            <p:cNvPr id="25" name="Textfeld 24">
              <a:extLst>
                <a:ext uri="{FF2B5EF4-FFF2-40B4-BE49-F238E27FC236}">
                  <a16:creationId xmlns:a16="http://schemas.microsoft.com/office/drawing/2014/main" id="{FE857329-50CA-B84D-8D39-B4B08538A22D}"/>
                </a:ext>
              </a:extLst>
            </p:cNvPr>
            <p:cNvSpPr txBox="1"/>
            <p:nvPr/>
          </p:nvSpPr>
          <p:spPr>
            <a:xfrm>
              <a:off x="952500" y="5225591"/>
              <a:ext cx="10287000" cy="553998"/>
            </a:xfrm>
            <a:prstGeom prst="rect">
              <a:avLst/>
            </a:prstGeom>
            <a:noFill/>
          </p:spPr>
          <p:txBody>
            <a:bodyPr vertOverflow="overflow" vert="horz" wrap="square" rtlCol="0" anchor="t">
              <a:spAutoFit/>
            </a:bodyPr>
            <a:lstStyle/>
            <a:p>
              <a:pPr algn="l"/>
              <a:r>
                <a:rPr lang="de-DE" sz="1500" dirty="0">
                  <a:solidFill>
                    <a:srgbClr val="C8D0DC"/>
                  </a:solidFill>
                </a:rPr>
                <a:t>Umsetzbare KI-Roadmap mit priorisierten Use Cases, Aufwandsschätzungen (</a:t>
              </a:r>
              <a:r>
                <a:rPr lang="de-DE" sz="1500" dirty="0" err="1">
                  <a:solidFill>
                    <a:srgbClr val="C8D0DC"/>
                  </a:solidFill>
                </a:rPr>
                <a:t>T-shirt</a:t>
              </a:r>
              <a:r>
                <a:rPr lang="de-DE" sz="1500" dirty="0">
                  <a:solidFill>
                    <a:srgbClr val="C8D0DC"/>
                  </a:solidFill>
                </a:rPr>
                <a:t> </a:t>
              </a:r>
              <a:r>
                <a:rPr lang="de-DE" sz="1500" dirty="0" err="1">
                  <a:solidFill>
                    <a:srgbClr val="C8D0DC"/>
                  </a:solidFill>
                </a:rPr>
                <a:t>size</a:t>
              </a:r>
              <a:r>
                <a:rPr lang="de-DE" sz="1500" dirty="0">
                  <a:solidFill>
                    <a:srgbClr val="C8D0DC"/>
                  </a:solidFill>
                </a:rPr>
                <a:t>) und klarer Architekturempfehlung - als Grundlage für die </a:t>
              </a:r>
              <a:r>
                <a:rPr lang="de-DE" sz="1500" dirty="0" err="1">
                  <a:solidFill>
                    <a:srgbClr val="C8D0DC"/>
                  </a:solidFill>
                </a:rPr>
                <a:t>Prototyping</a:t>
              </a:r>
              <a:r>
                <a:rPr lang="de-DE" sz="1500" dirty="0">
                  <a:solidFill>
                    <a:srgbClr val="C8D0DC"/>
                  </a:solidFill>
                </a:rPr>
                <a:t>-Phase. Sie erhalten ein ausführliches Produkt-Strategie inkl. ROI-Prognose.</a:t>
              </a:r>
            </a:p>
          </p:txBody>
        </p:sp>
      </p:grpSp>
      <p:grpSp>
        <p:nvGrpSpPr>
          <p:cNvPr id="29" name="Gruppieren 28">
            <a:extLst>
              <a:ext uri="{FF2B5EF4-FFF2-40B4-BE49-F238E27FC236}">
                <a16:creationId xmlns:a16="http://schemas.microsoft.com/office/drawing/2014/main" id="{4682C143-43B2-0F57-2C58-8BAE3FB5E4A2}"/>
              </a:ext>
            </a:extLst>
          </p:cNvPr>
          <p:cNvGrpSpPr/>
          <p:nvPr/>
        </p:nvGrpSpPr>
        <p:grpSpPr>
          <a:xfrm>
            <a:off x="8813800" y="2037934"/>
            <a:ext cx="2654300" cy="2286000"/>
            <a:chOff x="8813800" y="2037934"/>
            <a:chExt cx="2654300" cy="2286000"/>
          </a:xfrm>
        </p:grpSpPr>
        <p:sp>
          <p:nvSpPr>
            <p:cNvPr id="18" name="Pfeil nach rechts 17">
              <a:extLst>
                <a:ext uri="{FF2B5EF4-FFF2-40B4-BE49-F238E27FC236}">
                  <a16:creationId xmlns:a16="http://schemas.microsoft.com/office/drawing/2014/main" id="{DE33F290-E58A-784A-99A0-949839571EBB}"/>
                </a:ext>
              </a:extLst>
            </p:cNvPr>
            <p:cNvSpPr/>
            <p:nvPr/>
          </p:nvSpPr>
          <p:spPr>
            <a:xfrm>
              <a:off x="8813800" y="3053934"/>
              <a:ext cx="177800" cy="254000"/>
            </a:xfrm>
            <a:prstGeom prst="rightArrow">
              <a:avLst/>
            </a:prstGeom>
            <a:solidFill>
              <a:srgbClr val="00C89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19" name="Abgerundetes Rechteck 18">
              <a:extLst>
                <a:ext uri="{FF2B5EF4-FFF2-40B4-BE49-F238E27FC236}">
                  <a16:creationId xmlns:a16="http://schemas.microsoft.com/office/drawing/2014/main" id="{DCE98920-14DF-894E-B002-E65F38329007}"/>
                </a:ext>
              </a:extLst>
            </p:cNvPr>
            <p:cNvSpPr/>
            <p:nvPr/>
          </p:nvSpPr>
          <p:spPr>
            <a:xfrm>
              <a:off x="9118600" y="2037934"/>
              <a:ext cx="2349500" cy="2286000"/>
            </a:xfrm>
            <a:prstGeom prst="roundRect">
              <a:avLst>
                <a:gd name="adj" fmla="val 7558"/>
              </a:avLst>
            </a:prstGeom>
            <a:solidFill>
              <a:srgbClr val="131B2E"/>
            </a:solidFill>
            <a:ln w="12700" cap="flat" cmpd="sng" algn="ctr">
              <a:solidFill>
                <a:srgbClr val="1E2A4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endParaRPr lang="de-DE"/>
            </a:p>
          </p:txBody>
        </p:sp>
        <p:sp>
          <p:nvSpPr>
            <p:cNvPr id="20" name="Textfeld 19">
              <a:extLst>
                <a:ext uri="{FF2B5EF4-FFF2-40B4-BE49-F238E27FC236}">
                  <a16:creationId xmlns:a16="http://schemas.microsoft.com/office/drawing/2014/main" id="{00C31CA0-AC14-1E44-86B2-E7B322D4A88F}"/>
                </a:ext>
              </a:extLst>
            </p:cNvPr>
            <p:cNvSpPr txBox="1"/>
            <p:nvPr/>
          </p:nvSpPr>
          <p:spPr>
            <a:xfrm>
              <a:off x="9245600" y="2164934"/>
              <a:ext cx="508000" cy="381000"/>
            </a:xfrm>
            <a:prstGeom prst="rect">
              <a:avLst/>
            </a:prstGeom>
            <a:noFill/>
          </p:spPr>
          <p:txBody>
            <a:bodyPr vertOverflow="overflow" vert="horz" wrap="square" rtlCol="0" anchor="t">
              <a:spAutoFit/>
            </a:bodyPr>
            <a:lstStyle/>
            <a:p>
              <a:pPr algn="l"/>
              <a:r>
                <a:rPr lang="de-DE" sz="2000" b="1">
                  <a:solidFill>
                    <a:srgbClr val="00C896"/>
                  </a:solidFill>
                </a:rPr>
                <a:t>04</a:t>
              </a:r>
            </a:p>
          </p:txBody>
        </p:sp>
        <p:sp>
          <p:nvSpPr>
            <p:cNvPr id="16" name="Textfeld 15">
              <a:extLst>
                <a:ext uri="{FF2B5EF4-FFF2-40B4-BE49-F238E27FC236}">
                  <a16:creationId xmlns:a16="http://schemas.microsoft.com/office/drawing/2014/main" id="{523326B8-FC7A-0A43-A1BC-F4212BBD96E8}"/>
                </a:ext>
              </a:extLst>
            </p:cNvPr>
            <p:cNvSpPr txBox="1"/>
            <p:nvPr/>
          </p:nvSpPr>
          <p:spPr>
            <a:xfrm>
              <a:off x="9245600" y="2632319"/>
              <a:ext cx="2095500" cy="584775"/>
            </a:xfrm>
            <a:prstGeom prst="rect">
              <a:avLst/>
            </a:prstGeom>
            <a:noFill/>
          </p:spPr>
          <p:txBody>
            <a:bodyPr vertOverflow="overflow" vert="horz" wrap="square" rtlCol="0" anchor="t">
              <a:spAutoFit/>
            </a:bodyPr>
            <a:lstStyle/>
            <a:p>
              <a:pPr algn="l"/>
              <a:r>
                <a:rPr lang="de-DE" sz="1600" b="1" dirty="0">
                  <a:solidFill>
                    <a:srgbClr val="FFFFFF"/>
                  </a:solidFill>
                </a:rPr>
                <a:t>Features &amp; </a:t>
              </a:r>
              <a:br>
                <a:rPr lang="de-DE" sz="1600" b="1" dirty="0">
                  <a:solidFill>
                    <a:srgbClr val="FFFFFF"/>
                  </a:solidFill>
                </a:rPr>
              </a:br>
              <a:r>
                <a:rPr lang="de-DE" sz="1600" b="1" dirty="0">
                  <a:solidFill>
                    <a:srgbClr val="FFFFFF"/>
                  </a:solidFill>
                </a:rPr>
                <a:t>Roadmap</a:t>
              </a:r>
            </a:p>
          </p:txBody>
        </p:sp>
        <p:sp>
          <p:nvSpPr>
            <p:cNvPr id="17" name="Textfeld 16">
              <a:extLst>
                <a:ext uri="{FF2B5EF4-FFF2-40B4-BE49-F238E27FC236}">
                  <a16:creationId xmlns:a16="http://schemas.microsoft.com/office/drawing/2014/main" id="{104CA34D-AB11-5D42-8D80-0B65E79107AF}"/>
                </a:ext>
              </a:extLst>
            </p:cNvPr>
            <p:cNvSpPr txBox="1"/>
            <p:nvPr/>
          </p:nvSpPr>
          <p:spPr>
            <a:xfrm>
              <a:off x="9245600" y="3330819"/>
              <a:ext cx="2095500" cy="738664"/>
            </a:xfrm>
            <a:prstGeom prst="rect">
              <a:avLst/>
            </a:prstGeom>
            <a:noFill/>
          </p:spPr>
          <p:txBody>
            <a:bodyPr vertOverflow="overflow" vert="horz" wrap="square" rtlCol="0" anchor="t">
              <a:spAutoFit/>
            </a:bodyPr>
            <a:lstStyle/>
            <a:p>
              <a:pPr algn="l"/>
              <a:r>
                <a:rPr lang="de-DE" sz="1400" dirty="0">
                  <a:solidFill>
                    <a:srgbClr val="8B95A8"/>
                  </a:solidFill>
                </a:rPr>
                <a:t>MVP Feature-Plan mit Prioritäten, Meilensteinen und KPIs</a:t>
              </a:r>
            </a:p>
          </p:txBody>
        </p:sp>
      </p:grpSp>
    </p:spTree>
    <p:extLst>
      <p:ext uri="{BB962C8B-B14F-4D97-AF65-F5344CB8AC3E}">
        <p14:creationId xmlns:p14="http://schemas.microsoft.com/office/powerpoint/2010/main" val="2994461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ACC6F4-4884-5B70-373C-4DB921C4FE5C}"/>
              </a:ext>
            </a:extLst>
          </p:cNvPr>
          <p:cNvSpPr>
            <a:spLocks noGrp="1"/>
          </p:cNvSpPr>
          <p:nvPr>
            <p:ph type="title"/>
          </p:nvPr>
        </p:nvSpPr>
        <p:spPr>
          <a:xfrm>
            <a:off x="723900" y="365125"/>
            <a:ext cx="10515600" cy="1325563"/>
          </a:xfrm>
        </p:spPr>
        <p:txBody>
          <a:bodyPr>
            <a:normAutofit/>
          </a:bodyPr>
          <a:lstStyle/>
          <a:p>
            <a:r>
              <a:rPr lang="de-DE" sz="3200" b="1" dirty="0"/>
              <a:t>Go-</a:t>
            </a:r>
            <a:r>
              <a:rPr lang="de-DE" sz="3200" b="1" dirty="0" err="1"/>
              <a:t>to</a:t>
            </a:r>
            <a:r>
              <a:rPr lang="de-DE" sz="3200" b="1" dirty="0"/>
              <a:t>-Market Beratung</a:t>
            </a:r>
          </a:p>
        </p:txBody>
      </p:sp>
      <p:sp>
        <p:nvSpPr>
          <p:cNvPr id="3" name="Textfeld 2">
            <a:extLst>
              <a:ext uri="{FF2B5EF4-FFF2-40B4-BE49-F238E27FC236}">
                <a16:creationId xmlns:a16="http://schemas.microsoft.com/office/drawing/2014/main" id="{33B2182B-809A-284C-AB23-8E901F271D01}"/>
              </a:ext>
            </a:extLst>
          </p:cNvPr>
          <p:cNvSpPr txBox="1"/>
          <p:nvPr/>
        </p:nvSpPr>
        <p:spPr>
          <a:xfrm>
            <a:off x="723900" y="1325313"/>
            <a:ext cx="7620000" cy="338554"/>
          </a:xfrm>
          <a:prstGeom prst="rect">
            <a:avLst/>
          </a:prstGeom>
          <a:noFill/>
        </p:spPr>
        <p:txBody>
          <a:bodyPr vertOverflow="overflow" vert="horz" wrap="square" rtlCol="0" anchor="t">
            <a:spAutoFit/>
          </a:bodyPr>
          <a:lstStyle/>
          <a:p>
            <a:pPr algn="l"/>
            <a:r>
              <a:rPr lang="de-DE" sz="1600" dirty="0">
                <a:solidFill>
                  <a:srgbClr val="8B95A8"/>
                </a:solidFill>
              </a:rPr>
              <a:t>Technologie allein gewinnt keinen Markt - wir bringen Ihre Innovation zum Kunden.</a:t>
            </a:r>
          </a:p>
        </p:txBody>
      </p:sp>
      <p:sp>
        <p:nvSpPr>
          <p:cNvPr id="4" name="Abgerundetes Rechteck 3">
            <a:extLst>
              <a:ext uri="{FF2B5EF4-FFF2-40B4-BE49-F238E27FC236}">
                <a16:creationId xmlns:a16="http://schemas.microsoft.com/office/drawing/2014/main" id="{A37CFD9A-E405-DE40-91D3-4397FF3C50FB}"/>
              </a:ext>
            </a:extLst>
          </p:cNvPr>
          <p:cNvSpPr/>
          <p:nvPr/>
        </p:nvSpPr>
        <p:spPr>
          <a:xfrm>
            <a:off x="723900" y="2032000"/>
            <a:ext cx="2349500" cy="2286000"/>
          </a:xfrm>
          <a:prstGeom prst="roundRect">
            <a:avLst>
              <a:gd name="adj" fmla="val 11719"/>
            </a:avLst>
          </a:prstGeom>
          <a:solidFill>
            <a:srgbClr val="131B2E"/>
          </a:solidFill>
          <a:ln w="12700" cap="flat" cmpd="sng" algn="ctr">
            <a:solidFill>
              <a:srgbClr val="1E2A4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5" name="Textfeld 4">
            <a:extLst>
              <a:ext uri="{FF2B5EF4-FFF2-40B4-BE49-F238E27FC236}">
                <a16:creationId xmlns:a16="http://schemas.microsoft.com/office/drawing/2014/main" id="{3A684E7C-9369-0347-A337-A20C5922C5D8}"/>
              </a:ext>
            </a:extLst>
          </p:cNvPr>
          <p:cNvSpPr txBox="1"/>
          <p:nvPr/>
        </p:nvSpPr>
        <p:spPr>
          <a:xfrm>
            <a:off x="850900" y="2159000"/>
            <a:ext cx="508000" cy="381000"/>
          </a:xfrm>
          <a:prstGeom prst="rect">
            <a:avLst/>
          </a:prstGeom>
          <a:noFill/>
        </p:spPr>
        <p:txBody>
          <a:bodyPr vertOverflow="overflow" vert="horz" wrap="square" rtlCol="0" anchor="t">
            <a:spAutoFit/>
          </a:bodyPr>
          <a:lstStyle/>
          <a:p>
            <a:pPr algn="l"/>
            <a:r>
              <a:rPr lang="de-DE" sz="2000" b="1">
                <a:solidFill>
                  <a:srgbClr val="8B5CF6"/>
                </a:solidFill>
              </a:rPr>
              <a:t>01</a:t>
            </a:r>
          </a:p>
        </p:txBody>
      </p:sp>
      <p:sp>
        <p:nvSpPr>
          <p:cNvPr id="6" name="Textfeld 5">
            <a:extLst>
              <a:ext uri="{FF2B5EF4-FFF2-40B4-BE49-F238E27FC236}">
                <a16:creationId xmlns:a16="http://schemas.microsoft.com/office/drawing/2014/main" id="{90F5BAB1-FE1A-F64A-A5AF-D3E146654A8D}"/>
              </a:ext>
            </a:extLst>
          </p:cNvPr>
          <p:cNvSpPr txBox="1"/>
          <p:nvPr/>
        </p:nvSpPr>
        <p:spPr>
          <a:xfrm>
            <a:off x="850900" y="2603500"/>
            <a:ext cx="2095500" cy="635000"/>
          </a:xfrm>
          <a:prstGeom prst="rect">
            <a:avLst/>
          </a:prstGeom>
          <a:noFill/>
        </p:spPr>
        <p:txBody>
          <a:bodyPr vertOverflow="overflow" vert="horz" wrap="square" rtlCol="0" anchor="t">
            <a:spAutoFit/>
          </a:bodyPr>
          <a:lstStyle/>
          <a:p>
            <a:pPr algn="l"/>
            <a:r>
              <a:rPr lang="de-DE" sz="1600" b="1">
                <a:solidFill>
                  <a:srgbClr val="FFFFFF"/>
                </a:solidFill>
              </a:rPr>
              <a:t>Markt- &amp;
Positionierung</a:t>
            </a:r>
          </a:p>
        </p:txBody>
      </p:sp>
      <p:sp>
        <p:nvSpPr>
          <p:cNvPr id="7" name="Textfeld 6">
            <a:extLst>
              <a:ext uri="{FF2B5EF4-FFF2-40B4-BE49-F238E27FC236}">
                <a16:creationId xmlns:a16="http://schemas.microsoft.com/office/drawing/2014/main" id="{9F7FBC02-1ECB-3F4F-B472-692E9579E590}"/>
              </a:ext>
            </a:extLst>
          </p:cNvPr>
          <p:cNvSpPr txBox="1"/>
          <p:nvPr/>
        </p:nvSpPr>
        <p:spPr>
          <a:xfrm>
            <a:off x="850900" y="3302000"/>
            <a:ext cx="2095500" cy="889000"/>
          </a:xfrm>
          <a:prstGeom prst="rect">
            <a:avLst/>
          </a:prstGeom>
          <a:noFill/>
        </p:spPr>
        <p:txBody>
          <a:bodyPr vertOverflow="overflow" vert="horz" wrap="square" rtlCol="0" anchor="t">
            <a:spAutoFit/>
          </a:bodyPr>
          <a:lstStyle/>
          <a:p>
            <a:pPr algn="l"/>
            <a:r>
              <a:rPr lang="de-DE" sz="1400">
                <a:solidFill>
                  <a:srgbClr val="8B95A8"/>
                </a:solidFill>
              </a:rPr>
              <a:t>Zielgruppenanalyse, Wettbewerbs-positionierung und Value Proposition</a:t>
            </a:r>
          </a:p>
        </p:txBody>
      </p:sp>
      <p:grpSp>
        <p:nvGrpSpPr>
          <p:cNvPr id="27" name="Gruppieren 26">
            <a:extLst>
              <a:ext uri="{FF2B5EF4-FFF2-40B4-BE49-F238E27FC236}">
                <a16:creationId xmlns:a16="http://schemas.microsoft.com/office/drawing/2014/main" id="{51351802-4F8E-1091-8199-AAD5A7431BFE}"/>
              </a:ext>
            </a:extLst>
          </p:cNvPr>
          <p:cNvGrpSpPr/>
          <p:nvPr/>
        </p:nvGrpSpPr>
        <p:grpSpPr>
          <a:xfrm>
            <a:off x="3213100" y="2032000"/>
            <a:ext cx="2705100" cy="2286000"/>
            <a:chOff x="3213100" y="2032000"/>
            <a:chExt cx="2705100" cy="2286000"/>
          </a:xfrm>
        </p:grpSpPr>
        <p:sp>
          <p:nvSpPr>
            <p:cNvPr id="8" name="Pfeil nach rechts 7">
              <a:extLst>
                <a:ext uri="{FF2B5EF4-FFF2-40B4-BE49-F238E27FC236}">
                  <a16:creationId xmlns:a16="http://schemas.microsoft.com/office/drawing/2014/main" id="{95A84691-5068-5946-9D6D-0CA3DDE64FAA}"/>
                </a:ext>
              </a:extLst>
            </p:cNvPr>
            <p:cNvSpPr/>
            <p:nvPr/>
          </p:nvSpPr>
          <p:spPr>
            <a:xfrm>
              <a:off x="3213100" y="3048000"/>
              <a:ext cx="177800" cy="254000"/>
            </a:xfrm>
            <a:prstGeom prst="rightArrow">
              <a:avLst/>
            </a:prstGeom>
            <a:solidFill>
              <a:srgbClr val="8B5CF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9" name="Abgerundetes Rechteck 8">
              <a:extLst>
                <a:ext uri="{FF2B5EF4-FFF2-40B4-BE49-F238E27FC236}">
                  <a16:creationId xmlns:a16="http://schemas.microsoft.com/office/drawing/2014/main" id="{259C6831-89F9-6A4B-9450-6EBF2CF05F04}"/>
                </a:ext>
              </a:extLst>
            </p:cNvPr>
            <p:cNvSpPr/>
            <p:nvPr/>
          </p:nvSpPr>
          <p:spPr>
            <a:xfrm>
              <a:off x="3568700" y="2032000"/>
              <a:ext cx="2349500" cy="2286000"/>
            </a:xfrm>
            <a:prstGeom prst="roundRect">
              <a:avLst>
                <a:gd name="adj" fmla="val 10069"/>
              </a:avLst>
            </a:prstGeom>
            <a:solidFill>
              <a:srgbClr val="131B2E"/>
            </a:solidFill>
            <a:ln w="12700" cap="flat" cmpd="sng" algn="ctr">
              <a:solidFill>
                <a:srgbClr val="1E2A4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10" name="Textfeld 9">
              <a:extLst>
                <a:ext uri="{FF2B5EF4-FFF2-40B4-BE49-F238E27FC236}">
                  <a16:creationId xmlns:a16="http://schemas.microsoft.com/office/drawing/2014/main" id="{33410A41-180F-EC4B-87D5-907ED7C3258B}"/>
                </a:ext>
              </a:extLst>
            </p:cNvPr>
            <p:cNvSpPr txBox="1"/>
            <p:nvPr/>
          </p:nvSpPr>
          <p:spPr>
            <a:xfrm>
              <a:off x="3695700" y="2159000"/>
              <a:ext cx="508000" cy="381000"/>
            </a:xfrm>
            <a:prstGeom prst="rect">
              <a:avLst/>
            </a:prstGeom>
            <a:noFill/>
          </p:spPr>
          <p:txBody>
            <a:bodyPr vertOverflow="overflow" vert="horz" wrap="square" rtlCol="0" anchor="t">
              <a:spAutoFit/>
            </a:bodyPr>
            <a:lstStyle/>
            <a:p>
              <a:pPr algn="l"/>
              <a:r>
                <a:rPr lang="de-DE" sz="2000" b="1">
                  <a:solidFill>
                    <a:srgbClr val="8B5CF6"/>
                  </a:solidFill>
                </a:rPr>
                <a:t>02</a:t>
              </a:r>
            </a:p>
          </p:txBody>
        </p:sp>
        <p:sp>
          <p:nvSpPr>
            <p:cNvPr id="11" name="Textfeld 10">
              <a:extLst>
                <a:ext uri="{FF2B5EF4-FFF2-40B4-BE49-F238E27FC236}">
                  <a16:creationId xmlns:a16="http://schemas.microsoft.com/office/drawing/2014/main" id="{4FD7F335-E46F-1A4E-9889-1CC9994D99EC}"/>
                </a:ext>
              </a:extLst>
            </p:cNvPr>
            <p:cNvSpPr txBox="1"/>
            <p:nvPr/>
          </p:nvSpPr>
          <p:spPr>
            <a:xfrm>
              <a:off x="3695700" y="2603500"/>
              <a:ext cx="2095500" cy="635000"/>
            </a:xfrm>
            <a:prstGeom prst="rect">
              <a:avLst/>
            </a:prstGeom>
            <a:noFill/>
          </p:spPr>
          <p:txBody>
            <a:bodyPr vertOverflow="overflow" vert="horz" wrap="square" rtlCol="0" anchor="t">
              <a:spAutoFit/>
            </a:bodyPr>
            <a:lstStyle/>
            <a:p>
              <a:pPr algn="l"/>
              <a:r>
                <a:rPr lang="de-DE" sz="1600" b="1">
                  <a:solidFill>
                    <a:srgbClr val="FFFFFF"/>
                  </a:solidFill>
                </a:rPr>
                <a:t>Business
Model</a:t>
              </a:r>
            </a:p>
          </p:txBody>
        </p:sp>
        <p:sp>
          <p:nvSpPr>
            <p:cNvPr id="12" name="Textfeld 11">
              <a:extLst>
                <a:ext uri="{FF2B5EF4-FFF2-40B4-BE49-F238E27FC236}">
                  <a16:creationId xmlns:a16="http://schemas.microsoft.com/office/drawing/2014/main" id="{7F14FAFB-1DFC-0D44-BDDB-0A728C8D2007}"/>
                </a:ext>
              </a:extLst>
            </p:cNvPr>
            <p:cNvSpPr txBox="1"/>
            <p:nvPr/>
          </p:nvSpPr>
          <p:spPr>
            <a:xfrm>
              <a:off x="3695700" y="3302000"/>
              <a:ext cx="2095500" cy="889000"/>
            </a:xfrm>
            <a:prstGeom prst="rect">
              <a:avLst/>
            </a:prstGeom>
            <a:noFill/>
          </p:spPr>
          <p:txBody>
            <a:bodyPr vertOverflow="overflow" vert="horz" wrap="square" rtlCol="0" anchor="t">
              <a:spAutoFit/>
            </a:bodyPr>
            <a:lstStyle/>
            <a:p>
              <a:pPr algn="l"/>
              <a:r>
                <a:rPr lang="de-DE" sz="1400">
                  <a:solidFill>
                    <a:srgbClr val="8B95A8"/>
                  </a:solidFill>
                </a:rPr>
                <a:t>Geschäftsmodell-Design, Pricing-Strategie und Revenue Streams</a:t>
              </a:r>
            </a:p>
          </p:txBody>
        </p:sp>
      </p:grpSp>
      <p:grpSp>
        <p:nvGrpSpPr>
          <p:cNvPr id="28" name="Gruppieren 27">
            <a:extLst>
              <a:ext uri="{FF2B5EF4-FFF2-40B4-BE49-F238E27FC236}">
                <a16:creationId xmlns:a16="http://schemas.microsoft.com/office/drawing/2014/main" id="{1585F057-14F8-2982-E5D4-9300EEE4B456}"/>
              </a:ext>
            </a:extLst>
          </p:cNvPr>
          <p:cNvGrpSpPr/>
          <p:nvPr/>
        </p:nvGrpSpPr>
        <p:grpSpPr>
          <a:xfrm>
            <a:off x="6057900" y="2032000"/>
            <a:ext cx="2667000" cy="2286000"/>
            <a:chOff x="6057900" y="2032000"/>
            <a:chExt cx="2667000" cy="2286000"/>
          </a:xfrm>
        </p:grpSpPr>
        <p:sp>
          <p:nvSpPr>
            <p:cNvPr id="13" name="Pfeil nach rechts 12">
              <a:extLst>
                <a:ext uri="{FF2B5EF4-FFF2-40B4-BE49-F238E27FC236}">
                  <a16:creationId xmlns:a16="http://schemas.microsoft.com/office/drawing/2014/main" id="{BE5E0498-9C68-0B4A-B438-BB6D45DE6A7D}"/>
                </a:ext>
              </a:extLst>
            </p:cNvPr>
            <p:cNvSpPr/>
            <p:nvPr/>
          </p:nvSpPr>
          <p:spPr>
            <a:xfrm>
              <a:off x="6057900" y="3048000"/>
              <a:ext cx="177800" cy="254000"/>
            </a:xfrm>
            <a:prstGeom prst="rightArrow">
              <a:avLst/>
            </a:prstGeom>
            <a:solidFill>
              <a:srgbClr val="8B5CF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14" name="Abgerundetes Rechteck 13">
              <a:extLst>
                <a:ext uri="{FF2B5EF4-FFF2-40B4-BE49-F238E27FC236}">
                  <a16:creationId xmlns:a16="http://schemas.microsoft.com/office/drawing/2014/main" id="{0F0E6495-7B20-0347-8A0E-2672FDB0A9BB}"/>
                </a:ext>
              </a:extLst>
            </p:cNvPr>
            <p:cNvSpPr/>
            <p:nvPr/>
          </p:nvSpPr>
          <p:spPr>
            <a:xfrm>
              <a:off x="6375400" y="2032000"/>
              <a:ext cx="2349500" cy="2286000"/>
            </a:xfrm>
            <a:prstGeom prst="roundRect">
              <a:avLst>
                <a:gd name="adj" fmla="val 8007"/>
              </a:avLst>
            </a:prstGeom>
            <a:solidFill>
              <a:srgbClr val="131B2E"/>
            </a:solidFill>
            <a:ln w="12700" cap="flat" cmpd="sng" algn="ctr">
              <a:solidFill>
                <a:srgbClr val="1E2A4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15" name="Textfeld 14">
              <a:extLst>
                <a:ext uri="{FF2B5EF4-FFF2-40B4-BE49-F238E27FC236}">
                  <a16:creationId xmlns:a16="http://schemas.microsoft.com/office/drawing/2014/main" id="{9440CE86-A818-6C4B-A3C8-405941A4674F}"/>
                </a:ext>
              </a:extLst>
            </p:cNvPr>
            <p:cNvSpPr txBox="1"/>
            <p:nvPr/>
          </p:nvSpPr>
          <p:spPr>
            <a:xfrm>
              <a:off x="6502400" y="2159000"/>
              <a:ext cx="508000" cy="381000"/>
            </a:xfrm>
            <a:prstGeom prst="rect">
              <a:avLst/>
            </a:prstGeom>
            <a:noFill/>
          </p:spPr>
          <p:txBody>
            <a:bodyPr vertOverflow="overflow" vert="horz" wrap="square" rtlCol="0" anchor="t">
              <a:spAutoFit/>
            </a:bodyPr>
            <a:lstStyle/>
            <a:p>
              <a:pPr algn="l"/>
              <a:r>
                <a:rPr lang="de-DE" sz="2000" b="1">
                  <a:solidFill>
                    <a:srgbClr val="8B5CF6"/>
                  </a:solidFill>
                </a:rPr>
                <a:t>03</a:t>
              </a:r>
            </a:p>
          </p:txBody>
        </p:sp>
        <p:sp>
          <p:nvSpPr>
            <p:cNvPr id="16" name="Textfeld 15">
              <a:extLst>
                <a:ext uri="{FF2B5EF4-FFF2-40B4-BE49-F238E27FC236}">
                  <a16:creationId xmlns:a16="http://schemas.microsoft.com/office/drawing/2014/main" id="{51381D91-DB3E-B146-AD2D-56D4AE86D559}"/>
                </a:ext>
              </a:extLst>
            </p:cNvPr>
            <p:cNvSpPr txBox="1"/>
            <p:nvPr/>
          </p:nvSpPr>
          <p:spPr>
            <a:xfrm>
              <a:off x="6502400" y="2603500"/>
              <a:ext cx="2095500" cy="635000"/>
            </a:xfrm>
            <a:prstGeom prst="rect">
              <a:avLst/>
            </a:prstGeom>
            <a:noFill/>
          </p:spPr>
          <p:txBody>
            <a:bodyPr vertOverflow="overflow" vert="horz" wrap="square" rtlCol="0" anchor="t">
              <a:spAutoFit/>
            </a:bodyPr>
            <a:lstStyle/>
            <a:p>
              <a:pPr algn="l"/>
              <a:r>
                <a:rPr lang="de-DE" sz="1600" b="1">
                  <a:solidFill>
                    <a:srgbClr val="FFFFFF"/>
                  </a:solidFill>
                </a:rPr>
                <a:t>Launch-
Strategie</a:t>
              </a:r>
            </a:p>
          </p:txBody>
        </p:sp>
        <p:sp>
          <p:nvSpPr>
            <p:cNvPr id="17" name="Textfeld 16">
              <a:extLst>
                <a:ext uri="{FF2B5EF4-FFF2-40B4-BE49-F238E27FC236}">
                  <a16:creationId xmlns:a16="http://schemas.microsoft.com/office/drawing/2014/main" id="{1F3F0098-DEED-7B49-9F6A-9F41A648F80B}"/>
                </a:ext>
              </a:extLst>
            </p:cNvPr>
            <p:cNvSpPr txBox="1"/>
            <p:nvPr/>
          </p:nvSpPr>
          <p:spPr>
            <a:xfrm>
              <a:off x="6502400" y="3302000"/>
              <a:ext cx="2095500" cy="889000"/>
            </a:xfrm>
            <a:prstGeom prst="rect">
              <a:avLst/>
            </a:prstGeom>
            <a:noFill/>
          </p:spPr>
          <p:txBody>
            <a:bodyPr vertOverflow="overflow" vert="horz" wrap="square" rtlCol="0" anchor="t">
              <a:spAutoFit/>
            </a:bodyPr>
            <a:lstStyle/>
            <a:p>
              <a:pPr algn="l"/>
              <a:r>
                <a:rPr lang="de-DE" sz="1400" dirty="0">
                  <a:solidFill>
                    <a:srgbClr val="8B95A8"/>
                  </a:solidFill>
                </a:rPr>
                <a:t>Go-</a:t>
              </a:r>
              <a:r>
                <a:rPr lang="de-DE" sz="1400" dirty="0" err="1">
                  <a:solidFill>
                    <a:srgbClr val="8B95A8"/>
                  </a:solidFill>
                </a:rPr>
                <a:t>to</a:t>
              </a:r>
              <a:r>
                <a:rPr lang="de-DE" sz="1400" dirty="0">
                  <a:solidFill>
                    <a:srgbClr val="8B95A8"/>
                  </a:solidFill>
                </a:rPr>
                <a:t>-Market-Plan, Kanal-Strategie und erste Kundenakquise</a:t>
              </a:r>
            </a:p>
          </p:txBody>
        </p:sp>
      </p:grpSp>
      <p:grpSp>
        <p:nvGrpSpPr>
          <p:cNvPr id="29" name="Gruppieren 28">
            <a:extLst>
              <a:ext uri="{FF2B5EF4-FFF2-40B4-BE49-F238E27FC236}">
                <a16:creationId xmlns:a16="http://schemas.microsoft.com/office/drawing/2014/main" id="{8960E465-4FD7-52A0-31EC-795868DA6B0A}"/>
              </a:ext>
            </a:extLst>
          </p:cNvPr>
          <p:cNvGrpSpPr/>
          <p:nvPr/>
        </p:nvGrpSpPr>
        <p:grpSpPr>
          <a:xfrm>
            <a:off x="8851900" y="2032000"/>
            <a:ext cx="2616200" cy="2286000"/>
            <a:chOff x="8851900" y="2032000"/>
            <a:chExt cx="2616200" cy="2286000"/>
          </a:xfrm>
        </p:grpSpPr>
        <p:sp>
          <p:nvSpPr>
            <p:cNvPr id="18" name="Pfeil nach rechts 17">
              <a:extLst>
                <a:ext uri="{FF2B5EF4-FFF2-40B4-BE49-F238E27FC236}">
                  <a16:creationId xmlns:a16="http://schemas.microsoft.com/office/drawing/2014/main" id="{38C48760-1384-3D47-8576-9AEA5624F05D}"/>
                </a:ext>
              </a:extLst>
            </p:cNvPr>
            <p:cNvSpPr/>
            <p:nvPr/>
          </p:nvSpPr>
          <p:spPr>
            <a:xfrm>
              <a:off x="8851900" y="3048000"/>
              <a:ext cx="177800" cy="254000"/>
            </a:xfrm>
            <a:prstGeom prst="rightArrow">
              <a:avLst/>
            </a:prstGeom>
            <a:solidFill>
              <a:srgbClr val="8B5CF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19" name="Abgerundetes Rechteck 18">
              <a:extLst>
                <a:ext uri="{FF2B5EF4-FFF2-40B4-BE49-F238E27FC236}">
                  <a16:creationId xmlns:a16="http://schemas.microsoft.com/office/drawing/2014/main" id="{D724AFDB-9B1A-034A-A1F6-FD62DFFC8F1D}"/>
                </a:ext>
              </a:extLst>
            </p:cNvPr>
            <p:cNvSpPr/>
            <p:nvPr/>
          </p:nvSpPr>
          <p:spPr>
            <a:xfrm>
              <a:off x="9118600" y="2032000"/>
              <a:ext cx="2349500" cy="2286000"/>
            </a:xfrm>
            <a:prstGeom prst="roundRect">
              <a:avLst>
                <a:gd name="adj" fmla="val 12131"/>
              </a:avLst>
            </a:prstGeom>
            <a:solidFill>
              <a:srgbClr val="131B2E"/>
            </a:solidFill>
            <a:ln w="12700" cap="flat" cmpd="sng" algn="ctr">
              <a:solidFill>
                <a:srgbClr val="1E2A4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20" name="Textfeld 19">
              <a:extLst>
                <a:ext uri="{FF2B5EF4-FFF2-40B4-BE49-F238E27FC236}">
                  <a16:creationId xmlns:a16="http://schemas.microsoft.com/office/drawing/2014/main" id="{7488C6E5-2BF0-CF4D-99A5-60D33DCD0522}"/>
                </a:ext>
              </a:extLst>
            </p:cNvPr>
            <p:cNvSpPr txBox="1"/>
            <p:nvPr/>
          </p:nvSpPr>
          <p:spPr>
            <a:xfrm>
              <a:off x="9245600" y="2159000"/>
              <a:ext cx="508000" cy="381000"/>
            </a:xfrm>
            <a:prstGeom prst="rect">
              <a:avLst/>
            </a:prstGeom>
            <a:noFill/>
          </p:spPr>
          <p:txBody>
            <a:bodyPr vertOverflow="overflow" vert="horz" wrap="square" rtlCol="0" anchor="t">
              <a:spAutoFit/>
            </a:bodyPr>
            <a:lstStyle/>
            <a:p>
              <a:pPr algn="l"/>
              <a:r>
                <a:rPr lang="de-DE" sz="2000" b="1">
                  <a:solidFill>
                    <a:srgbClr val="8B5CF6"/>
                  </a:solidFill>
                </a:rPr>
                <a:t>04</a:t>
              </a:r>
            </a:p>
          </p:txBody>
        </p:sp>
        <p:sp>
          <p:nvSpPr>
            <p:cNvPr id="21" name="Textfeld 20">
              <a:extLst>
                <a:ext uri="{FF2B5EF4-FFF2-40B4-BE49-F238E27FC236}">
                  <a16:creationId xmlns:a16="http://schemas.microsoft.com/office/drawing/2014/main" id="{264ADE89-822B-FB4E-9F47-378EC88BCEF2}"/>
                </a:ext>
              </a:extLst>
            </p:cNvPr>
            <p:cNvSpPr txBox="1"/>
            <p:nvPr/>
          </p:nvSpPr>
          <p:spPr>
            <a:xfrm>
              <a:off x="9245600" y="2603500"/>
              <a:ext cx="2095500" cy="338554"/>
            </a:xfrm>
            <a:prstGeom prst="rect">
              <a:avLst/>
            </a:prstGeom>
            <a:noFill/>
          </p:spPr>
          <p:txBody>
            <a:bodyPr vertOverflow="overflow" vert="horz" wrap="square" rtlCol="0" anchor="t">
              <a:spAutoFit/>
            </a:bodyPr>
            <a:lstStyle/>
            <a:p>
              <a:pPr algn="l"/>
              <a:r>
                <a:rPr lang="de-DE" sz="1600" b="1" dirty="0">
                  <a:solidFill>
                    <a:srgbClr val="FFFFFF"/>
                  </a:solidFill>
                </a:rPr>
                <a:t>Market-</a:t>
              </a:r>
              <a:r>
                <a:rPr lang="de-DE" sz="1600" b="1" dirty="0" err="1">
                  <a:solidFill>
                    <a:srgbClr val="FFFFFF"/>
                  </a:solidFill>
                </a:rPr>
                <a:t>Prove</a:t>
              </a:r>
              <a:endParaRPr lang="de-DE" sz="1600" b="1" dirty="0">
                <a:solidFill>
                  <a:srgbClr val="FFFFFF"/>
                </a:solidFill>
              </a:endParaRPr>
            </a:p>
          </p:txBody>
        </p:sp>
        <p:sp>
          <p:nvSpPr>
            <p:cNvPr id="22" name="Textfeld 21">
              <a:extLst>
                <a:ext uri="{FF2B5EF4-FFF2-40B4-BE49-F238E27FC236}">
                  <a16:creationId xmlns:a16="http://schemas.microsoft.com/office/drawing/2014/main" id="{3091C1D9-3B14-9A41-9C7D-A270D0AD6B88}"/>
                </a:ext>
              </a:extLst>
            </p:cNvPr>
            <p:cNvSpPr txBox="1"/>
            <p:nvPr/>
          </p:nvSpPr>
          <p:spPr>
            <a:xfrm>
              <a:off x="9245600" y="3302000"/>
              <a:ext cx="2095500" cy="738664"/>
            </a:xfrm>
            <a:prstGeom prst="rect">
              <a:avLst/>
            </a:prstGeom>
            <a:noFill/>
          </p:spPr>
          <p:txBody>
            <a:bodyPr vertOverflow="overflow" vert="horz" wrap="square" rtlCol="0" anchor="t">
              <a:spAutoFit/>
            </a:bodyPr>
            <a:lstStyle/>
            <a:p>
              <a:pPr algn="l"/>
              <a:r>
                <a:rPr lang="de-DE" sz="1400" dirty="0">
                  <a:solidFill>
                    <a:srgbClr val="8B95A8"/>
                  </a:solidFill>
                </a:rPr>
                <a:t>Demos, Trials und Durchführung von PoCs mit ROI-Nachweis</a:t>
              </a:r>
            </a:p>
          </p:txBody>
        </p:sp>
      </p:grpSp>
      <p:grpSp>
        <p:nvGrpSpPr>
          <p:cNvPr id="26" name="Gruppieren 25">
            <a:extLst>
              <a:ext uri="{FF2B5EF4-FFF2-40B4-BE49-F238E27FC236}">
                <a16:creationId xmlns:a16="http://schemas.microsoft.com/office/drawing/2014/main" id="{66E7EEF5-164B-359F-D3C0-91C8AF3BD7C0}"/>
              </a:ext>
            </a:extLst>
          </p:cNvPr>
          <p:cNvGrpSpPr/>
          <p:nvPr/>
        </p:nvGrpSpPr>
        <p:grpSpPr>
          <a:xfrm>
            <a:off x="723900" y="4797509"/>
            <a:ext cx="10744200" cy="1193800"/>
            <a:chOff x="723900" y="4797509"/>
            <a:chExt cx="10744200" cy="1193800"/>
          </a:xfrm>
        </p:grpSpPr>
        <p:sp>
          <p:nvSpPr>
            <p:cNvPr id="23" name="Abgerundetes Rechteck 22">
              <a:extLst>
                <a:ext uri="{FF2B5EF4-FFF2-40B4-BE49-F238E27FC236}">
                  <a16:creationId xmlns:a16="http://schemas.microsoft.com/office/drawing/2014/main" id="{89E73357-47CF-2342-94C1-2A0A48B486F0}"/>
                </a:ext>
              </a:extLst>
            </p:cNvPr>
            <p:cNvSpPr/>
            <p:nvPr/>
          </p:nvSpPr>
          <p:spPr>
            <a:xfrm>
              <a:off x="723900" y="4797509"/>
              <a:ext cx="10744200" cy="1084817"/>
            </a:xfrm>
            <a:prstGeom prst="roundRect">
              <a:avLst/>
            </a:prstGeom>
            <a:solidFill>
              <a:srgbClr val="150F2E"/>
            </a:solidFill>
            <a:ln w="12700" cap="flat" cmpd="sng" algn="ctr">
              <a:solidFill>
                <a:srgbClr val="8B5CF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24" name="Textfeld 23">
              <a:extLst>
                <a:ext uri="{FF2B5EF4-FFF2-40B4-BE49-F238E27FC236}">
                  <a16:creationId xmlns:a16="http://schemas.microsoft.com/office/drawing/2014/main" id="{3780F900-1C98-D949-83CC-8035F85490DC}"/>
                </a:ext>
              </a:extLst>
            </p:cNvPr>
            <p:cNvSpPr txBox="1"/>
            <p:nvPr/>
          </p:nvSpPr>
          <p:spPr>
            <a:xfrm>
              <a:off x="952500" y="4899109"/>
              <a:ext cx="1270000" cy="355600"/>
            </a:xfrm>
            <a:prstGeom prst="rect">
              <a:avLst/>
            </a:prstGeom>
            <a:noFill/>
          </p:spPr>
          <p:txBody>
            <a:bodyPr vertOverflow="overflow" vert="horz" wrap="square" rtlCol="0" anchor="t">
              <a:spAutoFit/>
            </a:bodyPr>
            <a:lstStyle/>
            <a:p>
              <a:pPr algn="l"/>
              <a:r>
                <a:rPr lang="de-DE" sz="1400" b="1">
                  <a:solidFill>
                    <a:srgbClr val="8B5CF6"/>
                  </a:solidFill>
                </a:rPr>
                <a:t>Ergebnis</a:t>
              </a:r>
            </a:p>
          </p:txBody>
        </p:sp>
        <p:sp>
          <p:nvSpPr>
            <p:cNvPr id="25" name="Textfeld 24">
              <a:extLst>
                <a:ext uri="{FF2B5EF4-FFF2-40B4-BE49-F238E27FC236}">
                  <a16:creationId xmlns:a16="http://schemas.microsoft.com/office/drawing/2014/main" id="{E99CECB3-C75A-4C48-BC42-C219E9289F4C}"/>
                </a:ext>
              </a:extLst>
            </p:cNvPr>
            <p:cNvSpPr txBox="1"/>
            <p:nvPr/>
          </p:nvSpPr>
          <p:spPr>
            <a:xfrm>
              <a:off x="952500" y="5229309"/>
              <a:ext cx="10287000" cy="762000"/>
            </a:xfrm>
            <a:prstGeom prst="rect">
              <a:avLst/>
            </a:prstGeom>
            <a:noFill/>
          </p:spPr>
          <p:txBody>
            <a:bodyPr vertOverflow="overflow" vert="horz" wrap="square" rtlCol="0" anchor="t">
              <a:spAutoFit/>
            </a:bodyPr>
            <a:lstStyle/>
            <a:p>
              <a:pPr algn="l"/>
              <a:r>
                <a:rPr lang="de-DE" sz="1500">
                  <a:solidFill>
                    <a:srgbClr val="C8D0DC"/>
                  </a:solidFill>
                </a:rPr>
                <a:t>Marktreife Strategie mit validiertem Business Model, Launch-Plan und ersten Kundenreferenzen. Sie erhalten ein Go-to-Market Playbook mit konkreten Maßnahmen und Zeitplan für die Skalierung.</a:t>
              </a:r>
            </a:p>
          </p:txBody>
        </p:sp>
      </p:grpSp>
    </p:spTree>
    <p:extLst>
      <p:ext uri="{BB962C8B-B14F-4D97-AF65-F5344CB8AC3E}">
        <p14:creationId xmlns:p14="http://schemas.microsoft.com/office/powerpoint/2010/main" val="717703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A9CA381-E2F3-816C-0711-A0DE645E3120}"/>
              </a:ext>
            </a:extLst>
          </p:cNvPr>
          <p:cNvSpPr>
            <a:spLocks noGrp="1"/>
          </p:cNvSpPr>
          <p:nvPr>
            <p:ph type="title"/>
          </p:nvPr>
        </p:nvSpPr>
        <p:spPr>
          <a:xfrm>
            <a:off x="723900" y="365125"/>
            <a:ext cx="10629900" cy="1325563"/>
          </a:xfrm>
        </p:spPr>
        <p:txBody>
          <a:bodyPr>
            <a:normAutofit/>
          </a:bodyPr>
          <a:lstStyle/>
          <a:p>
            <a:r>
              <a:rPr lang="de-DE" sz="3200" b="1" dirty="0"/>
              <a:t>Software-</a:t>
            </a:r>
            <a:r>
              <a:rPr lang="de-DE" sz="3200" b="1" dirty="0" err="1"/>
              <a:t>Prototyping</a:t>
            </a:r>
            <a:endParaRPr lang="de-DE" sz="3200" b="1" dirty="0"/>
          </a:p>
        </p:txBody>
      </p:sp>
      <p:sp>
        <p:nvSpPr>
          <p:cNvPr id="3" name="Textfeld 2">
            <a:extLst>
              <a:ext uri="{FF2B5EF4-FFF2-40B4-BE49-F238E27FC236}">
                <a16:creationId xmlns:a16="http://schemas.microsoft.com/office/drawing/2014/main" id="{E392C438-2A22-9846-8945-190DF7E2B9E2}"/>
              </a:ext>
            </a:extLst>
          </p:cNvPr>
          <p:cNvSpPr txBox="1"/>
          <p:nvPr/>
        </p:nvSpPr>
        <p:spPr>
          <a:xfrm>
            <a:off x="723900" y="1311067"/>
            <a:ext cx="6350000" cy="338554"/>
          </a:xfrm>
          <a:prstGeom prst="rect">
            <a:avLst/>
          </a:prstGeom>
          <a:noFill/>
        </p:spPr>
        <p:txBody>
          <a:bodyPr vertOverflow="overflow" vert="horz" wrap="square" rtlCol="0" anchor="t">
            <a:spAutoFit/>
          </a:bodyPr>
          <a:lstStyle/>
          <a:p>
            <a:pPr algn="l"/>
            <a:r>
              <a:rPr lang="de-DE" sz="1600" dirty="0">
                <a:solidFill>
                  <a:srgbClr val="8B95A8"/>
                </a:solidFill>
              </a:rPr>
              <a:t>Vom Konzept zum Code - in Wochen, nicht Monaten.</a:t>
            </a:r>
          </a:p>
        </p:txBody>
      </p:sp>
      <p:sp>
        <p:nvSpPr>
          <p:cNvPr id="4" name="Abgerundetes Rechteck 3">
            <a:extLst>
              <a:ext uri="{FF2B5EF4-FFF2-40B4-BE49-F238E27FC236}">
                <a16:creationId xmlns:a16="http://schemas.microsoft.com/office/drawing/2014/main" id="{D81FE513-94E5-5B4F-A2F3-92958B01E3F9}"/>
              </a:ext>
            </a:extLst>
          </p:cNvPr>
          <p:cNvSpPr/>
          <p:nvPr/>
        </p:nvSpPr>
        <p:spPr>
          <a:xfrm>
            <a:off x="723900" y="2032000"/>
            <a:ext cx="2349500" cy="2286000"/>
          </a:xfrm>
          <a:prstGeom prst="roundRect">
            <a:avLst>
              <a:gd name="adj" fmla="val 7954"/>
            </a:avLst>
          </a:prstGeom>
          <a:solidFill>
            <a:srgbClr val="131B2E"/>
          </a:solidFill>
          <a:ln w="12700" cap="flat" cmpd="sng" algn="ctr">
            <a:solidFill>
              <a:srgbClr val="1E2A4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5" name="Textfeld 4">
            <a:extLst>
              <a:ext uri="{FF2B5EF4-FFF2-40B4-BE49-F238E27FC236}">
                <a16:creationId xmlns:a16="http://schemas.microsoft.com/office/drawing/2014/main" id="{13333E08-59DB-C44F-9E94-4F287D42006D}"/>
              </a:ext>
            </a:extLst>
          </p:cNvPr>
          <p:cNvSpPr txBox="1"/>
          <p:nvPr/>
        </p:nvSpPr>
        <p:spPr>
          <a:xfrm>
            <a:off x="850900" y="2159000"/>
            <a:ext cx="508000" cy="381000"/>
          </a:xfrm>
          <a:prstGeom prst="rect">
            <a:avLst/>
          </a:prstGeom>
          <a:noFill/>
        </p:spPr>
        <p:txBody>
          <a:bodyPr vertOverflow="overflow" vert="horz" wrap="square" rtlCol="0" anchor="t">
            <a:spAutoFit/>
          </a:bodyPr>
          <a:lstStyle/>
          <a:p>
            <a:pPr algn="l"/>
            <a:r>
              <a:rPr lang="de-DE" sz="2000" b="1">
                <a:solidFill>
                  <a:srgbClr val="0EA5E9"/>
                </a:solidFill>
              </a:rPr>
              <a:t>01</a:t>
            </a:r>
          </a:p>
        </p:txBody>
      </p:sp>
      <p:sp>
        <p:nvSpPr>
          <p:cNvPr id="6" name="Textfeld 5">
            <a:extLst>
              <a:ext uri="{FF2B5EF4-FFF2-40B4-BE49-F238E27FC236}">
                <a16:creationId xmlns:a16="http://schemas.microsoft.com/office/drawing/2014/main" id="{4F4CA41F-CB97-7840-B64B-343B14D786A5}"/>
              </a:ext>
            </a:extLst>
          </p:cNvPr>
          <p:cNvSpPr txBox="1"/>
          <p:nvPr/>
        </p:nvSpPr>
        <p:spPr>
          <a:xfrm>
            <a:off x="850900" y="2603500"/>
            <a:ext cx="2095500" cy="635000"/>
          </a:xfrm>
          <a:prstGeom prst="rect">
            <a:avLst/>
          </a:prstGeom>
          <a:noFill/>
        </p:spPr>
        <p:txBody>
          <a:bodyPr vertOverflow="overflow" vert="horz" wrap="square" rtlCol="0" anchor="t">
            <a:spAutoFit/>
          </a:bodyPr>
          <a:lstStyle/>
          <a:p>
            <a:pPr algn="l"/>
            <a:r>
              <a:rPr lang="de-DE" sz="1600" b="1" dirty="0">
                <a:solidFill>
                  <a:srgbClr val="FFFFFF"/>
                </a:solidFill>
              </a:rPr>
              <a:t>Anforderungs-
</a:t>
            </a:r>
            <a:r>
              <a:rPr lang="de-DE" sz="1600" b="1" dirty="0" err="1">
                <a:solidFill>
                  <a:srgbClr val="FFFFFF"/>
                </a:solidFill>
              </a:rPr>
              <a:t>workshop</a:t>
            </a:r>
            <a:endParaRPr lang="de-DE" sz="1600" b="1" dirty="0">
              <a:solidFill>
                <a:srgbClr val="FFFFFF"/>
              </a:solidFill>
            </a:endParaRPr>
          </a:p>
        </p:txBody>
      </p:sp>
      <p:sp>
        <p:nvSpPr>
          <p:cNvPr id="7" name="Textfeld 6">
            <a:extLst>
              <a:ext uri="{FF2B5EF4-FFF2-40B4-BE49-F238E27FC236}">
                <a16:creationId xmlns:a16="http://schemas.microsoft.com/office/drawing/2014/main" id="{583ECE87-AFC0-714E-B044-95863BE823EC}"/>
              </a:ext>
            </a:extLst>
          </p:cNvPr>
          <p:cNvSpPr txBox="1"/>
          <p:nvPr/>
        </p:nvSpPr>
        <p:spPr>
          <a:xfrm>
            <a:off x="850900" y="3302000"/>
            <a:ext cx="2095500" cy="889000"/>
          </a:xfrm>
          <a:prstGeom prst="rect">
            <a:avLst/>
          </a:prstGeom>
          <a:noFill/>
        </p:spPr>
        <p:txBody>
          <a:bodyPr vertOverflow="overflow" vert="horz" wrap="square" rtlCol="0" anchor="t">
            <a:spAutoFit/>
          </a:bodyPr>
          <a:lstStyle/>
          <a:p>
            <a:pPr algn="l"/>
            <a:r>
              <a:rPr lang="de-DE" sz="1400" dirty="0">
                <a:solidFill>
                  <a:srgbClr val="8B95A8"/>
                </a:solidFill>
              </a:rPr>
              <a:t>Definition von User Stories, Akzeptanzkriterien und technischen Constraints</a:t>
            </a:r>
          </a:p>
        </p:txBody>
      </p:sp>
      <p:grpSp>
        <p:nvGrpSpPr>
          <p:cNvPr id="27" name="Gruppieren 26">
            <a:extLst>
              <a:ext uri="{FF2B5EF4-FFF2-40B4-BE49-F238E27FC236}">
                <a16:creationId xmlns:a16="http://schemas.microsoft.com/office/drawing/2014/main" id="{13EAB0F6-5CA2-8D0D-DB53-2FD3B2DE656F}"/>
              </a:ext>
            </a:extLst>
          </p:cNvPr>
          <p:cNvGrpSpPr/>
          <p:nvPr/>
        </p:nvGrpSpPr>
        <p:grpSpPr>
          <a:xfrm>
            <a:off x="3200400" y="2032000"/>
            <a:ext cx="2679700" cy="2286000"/>
            <a:chOff x="3200400" y="2032000"/>
            <a:chExt cx="2679700" cy="2286000"/>
          </a:xfrm>
        </p:grpSpPr>
        <p:sp>
          <p:nvSpPr>
            <p:cNvPr id="8" name="Pfeil nach rechts 7">
              <a:extLst>
                <a:ext uri="{FF2B5EF4-FFF2-40B4-BE49-F238E27FC236}">
                  <a16:creationId xmlns:a16="http://schemas.microsoft.com/office/drawing/2014/main" id="{E88CE093-71CF-154B-88C3-261542298CC4}"/>
                </a:ext>
              </a:extLst>
            </p:cNvPr>
            <p:cNvSpPr/>
            <p:nvPr/>
          </p:nvSpPr>
          <p:spPr>
            <a:xfrm>
              <a:off x="3200400" y="3048000"/>
              <a:ext cx="177800" cy="254000"/>
            </a:xfrm>
            <a:prstGeom prst="rightArrow">
              <a:avLst/>
            </a:prstGeom>
            <a:solidFill>
              <a:srgbClr val="0EA5E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9" name="Abgerundetes Rechteck 8">
              <a:extLst>
                <a:ext uri="{FF2B5EF4-FFF2-40B4-BE49-F238E27FC236}">
                  <a16:creationId xmlns:a16="http://schemas.microsoft.com/office/drawing/2014/main" id="{BF626E87-7311-744F-ACA6-12900C3058F3}"/>
                </a:ext>
              </a:extLst>
            </p:cNvPr>
            <p:cNvSpPr/>
            <p:nvPr/>
          </p:nvSpPr>
          <p:spPr>
            <a:xfrm>
              <a:off x="3530600" y="2032000"/>
              <a:ext cx="2349500" cy="2286000"/>
            </a:xfrm>
            <a:prstGeom prst="roundRect">
              <a:avLst>
                <a:gd name="adj" fmla="val 11519"/>
              </a:avLst>
            </a:prstGeom>
            <a:solidFill>
              <a:srgbClr val="131B2E"/>
            </a:solidFill>
            <a:ln w="12700" cap="flat" cmpd="sng" algn="ctr">
              <a:solidFill>
                <a:srgbClr val="1E2A4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10" name="Textfeld 9">
              <a:extLst>
                <a:ext uri="{FF2B5EF4-FFF2-40B4-BE49-F238E27FC236}">
                  <a16:creationId xmlns:a16="http://schemas.microsoft.com/office/drawing/2014/main" id="{D41E49E5-92A1-0843-B2A6-B19D72370F23}"/>
                </a:ext>
              </a:extLst>
            </p:cNvPr>
            <p:cNvSpPr txBox="1"/>
            <p:nvPr/>
          </p:nvSpPr>
          <p:spPr>
            <a:xfrm>
              <a:off x="3657600" y="2159000"/>
              <a:ext cx="508000" cy="381000"/>
            </a:xfrm>
            <a:prstGeom prst="rect">
              <a:avLst/>
            </a:prstGeom>
            <a:noFill/>
          </p:spPr>
          <p:txBody>
            <a:bodyPr vertOverflow="overflow" vert="horz" wrap="square" rtlCol="0" anchor="t">
              <a:spAutoFit/>
            </a:bodyPr>
            <a:lstStyle/>
            <a:p>
              <a:pPr algn="l"/>
              <a:r>
                <a:rPr lang="de-DE" sz="2000" b="1">
                  <a:solidFill>
                    <a:srgbClr val="0EA5E9"/>
                  </a:solidFill>
                </a:rPr>
                <a:t>02</a:t>
              </a:r>
            </a:p>
          </p:txBody>
        </p:sp>
        <p:sp>
          <p:nvSpPr>
            <p:cNvPr id="11" name="Textfeld 10">
              <a:extLst>
                <a:ext uri="{FF2B5EF4-FFF2-40B4-BE49-F238E27FC236}">
                  <a16:creationId xmlns:a16="http://schemas.microsoft.com/office/drawing/2014/main" id="{89FA2F8B-06DB-4748-B50E-4DBC5554F446}"/>
                </a:ext>
              </a:extLst>
            </p:cNvPr>
            <p:cNvSpPr txBox="1"/>
            <p:nvPr/>
          </p:nvSpPr>
          <p:spPr>
            <a:xfrm>
              <a:off x="3657600" y="2603500"/>
              <a:ext cx="2095500" cy="584775"/>
            </a:xfrm>
            <a:prstGeom prst="rect">
              <a:avLst/>
            </a:prstGeom>
            <a:noFill/>
          </p:spPr>
          <p:txBody>
            <a:bodyPr vertOverflow="overflow" vert="horz" wrap="square" rtlCol="0" anchor="t">
              <a:spAutoFit/>
            </a:bodyPr>
            <a:lstStyle/>
            <a:p>
              <a:pPr algn="l"/>
              <a:r>
                <a:rPr lang="de-DE" sz="1600" b="1" dirty="0">
                  <a:solidFill>
                    <a:srgbClr val="FFFFFF"/>
                  </a:solidFill>
                </a:rPr>
                <a:t>Funktion &amp; Architektur</a:t>
              </a:r>
            </a:p>
          </p:txBody>
        </p:sp>
        <p:sp>
          <p:nvSpPr>
            <p:cNvPr id="12" name="Textfeld 11">
              <a:extLst>
                <a:ext uri="{FF2B5EF4-FFF2-40B4-BE49-F238E27FC236}">
                  <a16:creationId xmlns:a16="http://schemas.microsoft.com/office/drawing/2014/main" id="{F96F0B74-CD9C-6C48-89FB-71D197451062}"/>
                </a:ext>
              </a:extLst>
            </p:cNvPr>
            <p:cNvSpPr txBox="1"/>
            <p:nvPr/>
          </p:nvSpPr>
          <p:spPr>
            <a:xfrm>
              <a:off x="3657600" y="3302000"/>
              <a:ext cx="2095500" cy="738664"/>
            </a:xfrm>
            <a:prstGeom prst="rect">
              <a:avLst/>
            </a:prstGeom>
            <a:noFill/>
          </p:spPr>
          <p:txBody>
            <a:bodyPr vertOverflow="overflow" vert="horz" wrap="square" rtlCol="0" anchor="t">
              <a:spAutoFit/>
            </a:bodyPr>
            <a:lstStyle/>
            <a:p>
              <a:pPr algn="l"/>
              <a:r>
                <a:rPr lang="de-DE" sz="1400" dirty="0">
                  <a:solidFill>
                    <a:srgbClr val="8B95A8"/>
                  </a:solidFill>
                </a:rPr>
                <a:t>Feature-Definition System-Architektur und Design</a:t>
              </a:r>
            </a:p>
          </p:txBody>
        </p:sp>
      </p:grpSp>
      <p:grpSp>
        <p:nvGrpSpPr>
          <p:cNvPr id="28" name="Gruppieren 27">
            <a:extLst>
              <a:ext uri="{FF2B5EF4-FFF2-40B4-BE49-F238E27FC236}">
                <a16:creationId xmlns:a16="http://schemas.microsoft.com/office/drawing/2014/main" id="{051F0F66-F9C8-5F8E-E285-702D6B3B77B3}"/>
              </a:ext>
            </a:extLst>
          </p:cNvPr>
          <p:cNvGrpSpPr/>
          <p:nvPr/>
        </p:nvGrpSpPr>
        <p:grpSpPr>
          <a:xfrm>
            <a:off x="6007100" y="2032000"/>
            <a:ext cx="2679700" cy="2286000"/>
            <a:chOff x="6007100" y="2032000"/>
            <a:chExt cx="2679700" cy="2286000"/>
          </a:xfrm>
        </p:grpSpPr>
        <p:sp>
          <p:nvSpPr>
            <p:cNvPr id="13" name="Pfeil nach rechts 12">
              <a:extLst>
                <a:ext uri="{FF2B5EF4-FFF2-40B4-BE49-F238E27FC236}">
                  <a16:creationId xmlns:a16="http://schemas.microsoft.com/office/drawing/2014/main" id="{B8A6C41F-B66D-9D40-9D14-C2D331D92DA2}"/>
                </a:ext>
              </a:extLst>
            </p:cNvPr>
            <p:cNvSpPr/>
            <p:nvPr/>
          </p:nvSpPr>
          <p:spPr>
            <a:xfrm>
              <a:off x="6007100" y="3048000"/>
              <a:ext cx="177800" cy="254000"/>
            </a:xfrm>
            <a:prstGeom prst="rightArrow">
              <a:avLst/>
            </a:prstGeom>
            <a:solidFill>
              <a:srgbClr val="0EA5E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14" name="Abgerundetes Rechteck 13">
              <a:extLst>
                <a:ext uri="{FF2B5EF4-FFF2-40B4-BE49-F238E27FC236}">
                  <a16:creationId xmlns:a16="http://schemas.microsoft.com/office/drawing/2014/main" id="{DDEC0174-26A4-AB48-A335-075C944BD4BF}"/>
                </a:ext>
              </a:extLst>
            </p:cNvPr>
            <p:cNvSpPr/>
            <p:nvPr/>
          </p:nvSpPr>
          <p:spPr>
            <a:xfrm>
              <a:off x="6337300" y="2032000"/>
              <a:ext cx="2349500" cy="2286000"/>
            </a:xfrm>
            <a:prstGeom prst="roundRect">
              <a:avLst>
                <a:gd name="adj" fmla="val 9538"/>
              </a:avLst>
            </a:prstGeom>
            <a:solidFill>
              <a:srgbClr val="131B2E"/>
            </a:solidFill>
            <a:ln w="12700" cap="flat" cmpd="sng" algn="ctr">
              <a:solidFill>
                <a:srgbClr val="1E2A4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15" name="Textfeld 14">
              <a:extLst>
                <a:ext uri="{FF2B5EF4-FFF2-40B4-BE49-F238E27FC236}">
                  <a16:creationId xmlns:a16="http://schemas.microsoft.com/office/drawing/2014/main" id="{0DFFBCF3-B993-564C-8500-536DACA4C142}"/>
                </a:ext>
              </a:extLst>
            </p:cNvPr>
            <p:cNvSpPr txBox="1"/>
            <p:nvPr/>
          </p:nvSpPr>
          <p:spPr>
            <a:xfrm>
              <a:off x="6464300" y="2159000"/>
              <a:ext cx="508000" cy="381000"/>
            </a:xfrm>
            <a:prstGeom prst="rect">
              <a:avLst/>
            </a:prstGeom>
            <a:noFill/>
          </p:spPr>
          <p:txBody>
            <a:bodyPr vertOverflow="overflow" vert="horz" wrap="square" rtlCol="0" anchor="t">
              <a:spAutoFit/>
            </a:bodyPr>
            <a:lstStyle/>
            <a:p>
              <a:pPr algn="l"/>
              <a:r>
                <a:rPr lang="de-DE" sz="2000" b="1">
                  <a:solidFill>
                    <a:srgbClr val="0EA5E9"/>
                  </a:solidFill>
                </a:rPr>
                <a:t>03</a:t>
              </a:r>
            </a:p>
          </p:txBody>
        </p:sp>
        <p:sp>
          <p:nvSpPr>
            <p:cNvPr id="16" name="Textfeld 15">
              <a:extLst>
                <a:ext uri="{FF2B5EF4-FFF2-40B4-BE49-F238E27FC236}">
                  <a16:creationId xmlns:a16="http://schemas.microsoft.com/office/drawing/2014/main" id="{FC15D03A-9012-EA43-A724-F5F0F3DFE38E}"/>
                </a:ext>
              </a:extLst>
            </p:cNvPr>
            <p:cNvSpPr txBox="1"/>
            <p:nvPr/>
          </p:nvSpPr>
          <p:spPr>
            <a:xfrm>
              <a:off x="6464300" y="2603500"/>
              <a:ext cx="2095500" cy="635000"/>
            </a:xfrm>
            <a:prstGeom prst="rect">
              <a:avLst/>
            </a:prstGeom>
            <a:noFill/>
          </p:spPr>
          <p:txBody>
            <a:bodyPr vertOverflow="overflow" vert="horz" wrap="square" rtlCol="0" anchor="t">
              <a:spAutoFit/>
            </a:bodyPr>
            <a:lstStyle/>
            <a:p>
              <a:pPr algn="l"/>
              <a:r>
                <a:rPr lang="de-DE" sz="1600" b="1">
                  <a:solidFill>
                    <a:srgbClr val="FFFFFF"/>
                  </a:solidFill>
                </a:rPr>
                <a:t>Rapid
Prototyping</a:t>
              </a:r>
            </a:p>
          </p:txBody>
        </p:sp>
        <p:sp>
          <p:nvSpPr>
            <p:cNvPr id="17" name="Textfeld 16">
              <a:extLst>
                <a:ext uri="{FF2B5EF4-FFF2-40B4-BE49-F238E27FC236}">
                  <a16:creationId xmlns:a16="http://schemas.microsoft.com/office/drawing/2014/main" id="{A75FE4B7-78B7-2747-A634-85EAF66F8F47}"/>
                </a:ext>
              </a:extLst>
            </p:cNvPr>
            <p:cNvSpPr txBox="1"/>
            <p:nvPr/>
          </p:nvSpPr>
          <p:spPr>
            <a:xfrm>
              <a:off x="6464300" y="3302000"/>
              <a:ext cx="2095500" cy="889000"/>
            </a:xfrm>
            <a:prstGeom prst="rect">
              <a:avLst/>
            </a:prstGeom>
            <a:noFill/>
          </p:spPr>
          <p:txBody>
            <a:bodyPr vertOverflow="overflow" vert="horz" wrap="square" rtlCol="0" anchor="t">
              <a:spAutoFit/>
            </a:bodyPr>
            <a:lstStyle/>
            <a:p>
              <a:pPr algn="l"/>
              <a:r>
                <a:rPr lang="de-DE" sz="1400" dirty="0">
                  <a:solidFill>
                    <a:srgbClr val="8B95A8"/>
                  </a:solidFill>
                </a:rPr>
                <a:t>Iterative Entwicklung des MVP in kurzen Sprints mit regelmäßigem Feedback</a:t>
              </a:r>
            </a:p>
          </p:txBody>
        </p:sp>
      </p:grpSp>
      <p:grpSp>
        <p:nvGrpSpPr>
          <p:cNvPr id="30" name="Gruppieren 29">
            <a:extLst>
              <a:ext uri="{FF2B5EF4-FFF2-40B4-BE49-F238E27FC236}">
                <a16:creationId xmlns:a16="http://schemas.microsoft.com/office/drawing/2014/main" id="{D84BC685-208C-632B-6D32-BC4216C81090}"/>
              </a:ext>
            </a:extLst>
          </p:cNvPr>
          <p:cNvGrpSpPr/>
          <p:nvPr/>
        </p:nvGrpSpPr>
        <p:grpSpPr>
          <a:xfrm>
            <a:off x="8813800" y="2032000"/>
            <a:ext cx="2654300" cy="2286000"/>
            <a:chOff x="8813800" y="2032000"/>
            <a:chExt cx="2654300" cy="2286000"/>
          </a:xfrm>
        </p:grpSpPr>
        <p:sp>
          <p:nvSpPr>
            <p:cNvPr id="18" name="Pfeil nach rechts 17">
              <a:extLst>
                <a:ext uri="{FF2B5EF4-FFF2-40B4-BE49-F238E27FC236}">
                  <a16:creationId xmlns:a16="http://schemas.microsoft.com/office/drawing/2014/main" id="{50574FDB-8DB0-DC42-86D7-E0F9B678EC20}"/>
                </a:ext>
              </a:extLst>
            </p:cNvPr>
            <p:cNvSpPr/>
            <p:nvPr/>
          </p:nvSpPr>
          <p:spPr>
            <a:xfrm>
              <a:off x="8813800" y="3048000"/>
              <a:ext cx="177800" cy="254000"/>
            </a:xfrm>
            <a:prstGeom prst="rightArrow">
              <a:avLst/>
            </a:prstGeom>
            <a:solidFill>
              <a:srgbClr val="0EA5E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19" name="Abgerundetes Rechteck 18">
              <a:extLst>
                <a:ext uri="{FF2B5EF4-FFF2-40B4-BE49-F238E27FC236}">
                  <a16:creationId xmlns:a16="http://schemas.microsoft.com/office/drawing/2014/main" id="{AA5C8E88-5B35-B14F-8025-A57317382AD6}"/>
                </a:ext>
              </a:extLst>
            </p:cNvPr>
            <p:cNvSpPr/>
            <p:nvPr/>
          </p:nvSpPr>
          <p:spPr>
            <a:xfrm>
              <a:off x="9118600" y="2032000"/>
              <a:ext cx="2349500" cy="2286000"/>
            </a:xfrm>
            <a:prstGeom prst="roundRect">
              <a:avLst>
                <a:gd name="adj" fmla="val 9538"/>
              </a:avLst>
            </a:prstGeom>
            <a:solidFill>
              <a:srgbClr val="131B2E"/>
            </a:solidFill>
            <a:ln w="12700" cap="flat" cmpd="sng" algn="ctr">
              <a:solidFill>
                <a:srgbClr val="1E2A4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20" name="Textfeld 19">
              <a:extLst>
                <a:ext uri="{FF2B5EF4-FFF2-40B4-BE49-F238E27FC236}">
                  <a16:creationId xmlns:a16="http://schemas.microsoft.com/office/drawing/2014/main" id="{329009BC-EDAE-FD45-90B7-9E2382E99331}"/>
                </a:ext>
              </a:extLst>
            </p:cNvPr>
            <p:cNvSpPr txBox="1"/>
            <p:nvPr/>
          </p:nvSpPr>
          <p:spPr>
            <a:xfrm>
              <a:off x="9245600" y="2159000"/>
              <a:ext cx="508000" cy="381000"/>
            </a:xfrm>
            <a:prstGeom prst="rect">
              <a:avLst/>
            </a:prstGeom>
            <a:noFill/>
          </p:spPr>
          <p:txBody>
            <a:bodyPr vertOverflow="overflow" vert="horz" wrap="square" rtlCol="0" anchor="t">
              <a:spAutoFit/>
            </a:bodyPr>
            <a:lstStyle/>
            <a:p>
              <a:pPr algn="l"/>
              <a:r>
                <a:rPr lang="de-DE" sz="2000" b="1">
                  <a:solidFill>
                    <a:srgbClr val="0EA5E9"/>
                  </a:solidFill>
                </a:rPr>
                <a:t>04</a:t>
              </a:r>
            </a:p>
          </p:txBody>
        </p:sp>
        <p:sp>
          <p:nvSpPr>
            <p:cNvPr id="21" name="Textfeld 20">
              <a:extLst>
                <a:ext uri="{FF2B5EF4-FFF2-40B4-BE49-F238E27FC236}">
                  <a16:creationId xmlns:a16="http://schemas.microsoft.com/office/drawing/2014/main" id="{340AAF4B-ECB7-9345-A2C6-99D829A2A7A8}"/>
                </a:ext>
              </a:extLst>
            </p:cNvPr>
            <p:cNvSpPr txBox="1"/>
            <p:nvPr/>
          </p:nvSpPr>
          <p:spPr>
            <a:xfrm>
              <a:off x="9245600" y="2603500"/>
              <a:ext cx="2095500" cy="635000"/>
            </a:xfrm>
            <a:prstGeom prst="rect">
              <a:avLst/>
            </a:prstGeom>
            <a:noFill/>
          </p:spPr>
          <p:txBody>
            <a:bodyPr vertOverflow="overflow" vert="horz" wrap="square" rtlCol="0" anchor="t">
              <a:spAutoFit/>
            </a:bodyPr>
            <a:lstStyle/>
            <a:p>
              <a:pPr algn="l"/>
              <a:r>
                <a:rPr lang="de-DE" sz="1600" b="1">
                  <a:solidFill>
                    <a:srgbClr val="FFFFFF"/>
                  </a:solidFill>
                </a:rPr>
                <a:t>Validierung &amp;
Handover</a:t>
              </a:r>
            </a:p>
          </p:txBody>
        </p:sp>
        <p:sp>
          <p:nvSpPr>
            <p:cNvPr id="22" name="Textfeld 21">
              <a:extLst>
                <a:ext uri="{FF2B5EF4-FFF2-40B4-BE49-F238E27FC236}">
                  <a16:creationId xmlns:a16="http://schemas.microsoft.com/office/drawing/2014/main" id="{0D2130A4-DC09-BF48-B5BA-E511C699B906}"/>
                </a:ext>
              </a:extLst>
            </p:cNvPr>
            <p:cNvSpPr txBox="1"/>
            <p:nvPr/>
          </p:nvSpPr>
          <p:spPr>
            <a:xfrm>
              <a:off x="9245600" y="3302000"/>
              <a:ext cx="2095500" cy="889000"/>
            </a:xfrm>
            <a:prstGeom prst="rect">
              <a:avLst/>
            </a:prstGeom>
            <a:noFill/>
          </p:spPr>
          <p:txBody>
            <a:bodyPr vertOverflow="overflow" vert="horz" wrap="square" rtlCol="0" anchor="t">
              <a:spAutoFit/>
            </a:bodyPr>
            <a:lstStyle/>
            <a:p>
              <a:pPr algn="l"/>
              <a:r>
                <a:rPr lang="de-DE" sz="1400" dirty="0" err="1">
                  <a:solidFill>
                    <a:srgbClr val="8B95A8"/>
                  </a:solidFill>
                </a:rPr>
                <a:t>Testing</a:t>
              </a:r>
              <a:r>
                <a:rPr lang="de-DE" sz="1400" dirty="0">
                  <a:solidFill>
                    <a:srgbClr val="8B95A8"/>
                  </a:solidFill>
                </a:rPr>
                <a:t>, User-Akzeptanz-Tests und Übergabe des funktionalen Prototyps</a:t>
              </a:r>
            </a:p>
          </p:txBody>
        </p:sp>
      </p:grpSp>
      <p:grpSp>
        <p:nvGrpSpPr>
          <p:cNvPr id="26" name="Gruppieren 25">
            <a:extLst>
              <a:ext uri="{FF2B5EF4-FFF2-40B4-BE49-F238E27FC236}">
                <a16:creationId xmlns:a16="http://schemas.microsoft.com/office/drawing/2014/main" id="{EC5CE5F6-715F-F707-B2B5-DE96E6FDA8E8}"/>
              </a:ext>
            </a:extLst>
          </p:cNvPr>
          <p:cNvGrpSpPr/>
          <p:nvPr/>
        </p:nvGrpSpPr>
        <p:grpSpPr>
          <a:xfrm>
            <a:off x="723900" y="4800714"/>
            <a:ext cx="10744200" cy="1104774"/>
            <a:chOff x="723900" y="4800714"/>
            <a:chExt cx="10744200" cy="1104774"/>
          </a:xfrm>
        </p:grpSpPr>
        <p:sp>
          <p:nvSpPr>
            <p:cNvPr id="23" name="Abgerundetes Rechteck 22">
              <a:extLst>
                <a:ext uri="{FF2B5EF4-FFF2-40B4-BE49-F238E27FC236}">
                  <a16:creationId xmlns:a16="http://schemas.microsoft.com/office/drawing/2014/main" id="{56469C19-3BF0-5442-A9B6-672BE1C2E8F8}"/>
                </a:ext>
              </a:extLst>
            </p:cNvPr>
            <p:cNvSpPr/>
            <p:nvPr/>
          </p:nvSpPr>
          <p:spPr>
            <a:xfrm>
              <a:off x="723900" y="4800714"/>
              <a:ext cx="10744200" cy="1104774"/>
            </a:xfrm>
            <a:prstGeom prst="roundRect">
              <a:avLst>
                <a:gd name="adj" fmla="val 10186"/>
              </a:avLst>
            </a:prstGeom>
            <a:solidFill>
              <a:srgbClr val="0A1A2E"/>
            </a:solidFill>
            <a:ln w="12700" cap="flat" cmpd="sng" algn="ctr">
              <a:solidFill>
                <a:srgbClr val="0EA5E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24" name="Textfeld 23">
              <a:extLst>
                <a:ext uri="{FF2B5EF4-FFF2-40B4-BE49-F238E27FC236}">
                  <a16:creationId xmlns:a16="http://schemas.microsoft.com/office/drawing/2014/main" id="{752C9DE4-DFFA-814F-B565-09EBC1D1CD6D}"/>
                </a:ext>
              </a:extLst>
            </p:cNvPr>
            <p:cNvSpPr txBox="1"/>
            <p:nvPr/>
          </p:nvSpPr>
          <p:spPr>
            <a:xfrm>
              <a:off x="952500" y="4902314"/>
              <a:ext cx="1270000" cy="355600"/>
            </a:xfrm>
            <a:prstGeom prst="rect">
              <a:avLst/>
            </a:prstGeom>
            <a:noFill/>
          </p:spPr>
          <p:txBody>
            <a:bodyPr vertOverflow="overflow" vert="horz" wrap="square" rtlCol="0" anchor="t">
              <a:spAutoFit/>
            </a:bodyPr>
            <a:lstStyle/>
            <a:p>
              <a:pPr algn="l"/>
              <a:r>
                <a:rPr lang="de-DE" sz="1400" b="1">
                  <a:solidFill>
                    <a:srgbClr val="0EA5E9"/>
                  </a:solidFill>
                </a:rPr>
                <a:t>Ergebnis</a:t>
              </a:r>
            </a:p>
          </p:txBody>
        </p:sp>
        <p:sp>
          <p:nvSpPr>
            <p:cNvPr id="25" name="Textfeld 24">
              <a:extLst>
                <a:ext uri="{FF2B5EF4-FFF2-40B4-BE49-F238E27FC236}">
                  <a16:creationId xmlns:a16="http://schemas.microsoft.com/office/drawing/2014/main" id="{9FBCFA9E-08BA-CB44-93D4-BD086EB31468}"/>
                </a:ext>
              </a:extLst>
            </p:cNvPr>
            <p:cNvSpPr txBox="1"/>
            <p:nvPr/>
          </p:nvSpPr>
          <p:spPr>
            <a:xfrm>
              <a:off x="952500" y="5232514"/>
              <a:ext cx="10287000" cy="553998"/>
            </a:xfrm>
            <a:prstGeom prst="rect">
              <a:avLst/>
            </a:prstGeom>
            <a:noFill/>
          </p:spPr>
          <p:txBody>
            <a:bodyPr vertOverflow="overflow" vert="horz" wrap="square" rtlCol="0" anchor="t">
              <a:spAutoFit/>
            </a:bodyPr>
            <a:lstStyle/>
            <a:p>
              <a:r>
                <a:rPr lang="de-DE" sz="1500" dirty="0">
                  <a:solidFill>
                    <a:srgbClr val="C8D0DC"/>
                  </a:solidFill>
                </a:rPr>
                <a:t>Funktionaler MVP mit dokumentierten User-Stories, Features und modellierter Softwarearchitektur sowie Funktionsdesign für die Weiterverarbeitung. Bereit für User-Tests, Investorenpräsentationen oder die nächste Entwicklungsphase.</a:t>
              </a:r>
            </a:p>
          </p:txBody>
        </p:sp>
      </p:grpSp>
    </p:spTree>
    <p:extLst>
      <p:ext uri="{BB962C8B-B14F-4D97-AF65-F5344CB8AC3E}">
        <p14:creationId xmlns:p14="http://schemas.microsoft.com/office/powerpoint/2010/main" val="3348437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B4034-8225-1D64-9BEF-99E1B68CF56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601C6EF-BA55-4964-1624-46E3241F0848}"/>
              </a:ext>
            </a:extLst>
          </p:cNvPr>
          <p:cNvSpPr>
            <a:spLocks noGrp="1"/>
          </p:cNvSpPr>
          <p:nvPr>
            <p:ph type="title"/>
          </p:nvPr>
        </p:nvSpPr>
        <p:spPr/>
        <p:txBody>
          <a:bodyPr>
            <a:normAutofit/>
          </a:bodyPr>
          <a:lstStyle/>
          <a:p>
            <a:r>
              <a:rPr lang="de-DE" sz="3200" b="1" dirty="0"/>
              <a:t>Unternehmensaufbau</a:t>
            </a:r>
          </a:p>
        </p:txBody>
      </p:sp>
      <p:sp>
        <p:nvSpPr>
          <p:cNvPr id="3" name="Textfeld 2">
            <a:extLst>
              <a:ext uri="{FF2B5EF4-FFF2-40B4-BE49-F238E27FC236}">
                <a16:creationId xmlns:a16="http://schemas.microsoft.com/office/drawing/2014/main" id="{E30F0299-58B3-1AFC-6B40-710E6FAB8BB3}"/>
              </a:ext>
            </a:extLst>
          </p:cNvPr>
          <p:cNvSpPr txBox="1"/>
          <p:nvPr/>
        </p:nvSpPr>
        <p:spPr>
          <a:xfrm>
            <a:off x="723900" y="1238419"/>
            <a:ext cx="7620000" cy="338554"/>
          </a:xfrm>
          <a:prstGeom prst="rect">
            <a:avLst/>
          </a:prstGeom>
          <a:noFill/>
        </p:spPr>
        <p:txBody>
          <a:bodyPr vertOverflow="overflow" vert="horz" wrap="square" rtlCol="0" anchor="t">
            <a:spAutoFit/>
          </a:bodyPr>
          <a:lstStyle/>
          <a:p>
            <a:pPr algn="l"/>
            <a:r>
              <a:rPr lang="de-DE" sz="1600" dirty="0">
                <a:solidFill>
                  <a:srgbClr val="8B95A8"/>
                </a:solidFill>
              </a:rPr>
              <a:t>Von der Idee zur funktionierenden Organisation - strukturiert, skalierbar, zukunftssicher.</a:t>
            </a:r>
          </a:p>
        </p:txBody>
      </p:sp>
      <p:grpSp>
        <p:nvGrpSpPr>
          <p:cNvPr id="27" name="Gruppieren 26">
            <a:extLst>
              <a:ext uri="{FF2B5EF4-FFF2-40B4-BE49-F238E27FC236}">
                <a16:creationId xmlns:a16="http://schemas.microsoft.com/office/drawing/2014/main" id="{5438C190-5D0A-6337-4032-2E2B4E246431}"/>
              </a:ext>
            </a:extLst>
          </p:cNvPr>
          <p:cNvGrpSpPr/>
          <p:nvPr/>
        </p:nvGrpSpPr>
        <p:grpSpPr>
          <a:xfrm>
            <a:off x="723900" y="2032000"/>
            <a:ext cx="2349500" cy="2286000"/>
            <a:chOff x="723900" y="2032000"/>
            <a:chExt cx="2349500" cy="2286000"/>
          </a:xfrm>
        </p:grpSpPr>
        <p:sp>
          <p:nvSpPr>
            <p:cNvPr id="4" name="Abgerundetes Rechteck 3">
              <a:extLst>
                <a:ext uri="{FF2B5EF4-FFF2-40B4-BE49-F238E27FC236}">
                  <a16:creationId xmlns:a16="http://schemas.microsoft.com/office/drawing/2014/main" id="{001C05D5-BF4A-336F-D2B8-FCB5B3F6B1BB}"/>
                </a:ext>
              </a:extLst>
            </p:cNvPr>
            <p:cNvSpPr/>
            <p:nvPr/>
          </p:nvSpPr>
          <p:spPr>
            <a:xfrm>
              <a:off x="723900" y="2032000"/>
              <a:ext cx="2349500" cy="2286000"/>
            </a:xfrm>
            <a:prstGeom prst="roundRect">
              <a:avLst>
                <a:gd name="adj" fmla="val 8420"/>
              </a:avLst>
            </a:prstGeom>
            <a:solidFill>
              <a:srgbClr val="131B2E"/>
            </a:solidFill>
            <a:ln w="12700" cap="flat" cmpd="sng" algn="ctr">
              <a:solidFill>
                <a:srgbClr val="1E2A4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6" name="Textfeld 5">
              <a:extLst>
                <a:ext uri="{FF2B5EF4-FFF2-40B4-BE49-F238E27FC236}">
                  <a16:creationId xmlns:a16="http://schemas.microsoft.com/office/drawing/2014/main" id="{6874B88F-A0D0-C87D-49AB-4E984BB64636}"/>
                </a:ext>
              </a:extLst>
            </p:cNvPr>
            <p:cNvSpPr txBox="1"/>
            <p:nvPr/>
          </p:nvSpPr>
          <p:spPr>
            <a:xfrm>
              <a:off x="850900" y="2603500"/>
              <a:ext cx="2095500" cy="584775"/>
            </a:xfrm>
            <a:prstGeom prst="rect">
              <a:avLst/>
            </a:prstGeom>
            <a:noFill/>
          </p:spPr>
          <p:txBody>
            <a:bodyPr vertOverflow="overflow" vert="horz" wrap="square" rtlCol="0" anchor="t">
              <a:spAutoFit/>
            </a:bodyPr>
            <a:lstStyle/>
            <a:p>
              <a:pPr algn="l"/>
              <a:r>
                <a:rPr lang="de-DE" sz="1600" b="1" dirty="0">
                  <a:solidFill>
                    <a:srgbClr val="FFFFFF"/>
                  </a:solidFill>
                </a:rPr>
                <a:t>Gründungs-
Framework</a:t>
              </a:r>
            </a:p>
          </p:txBody>
        </p:sp>
        <p:sp>
          <p:nvSpPr>
            <p:cNvPr id="7" name="Textfeld 6">
              <a:extLst>
                <a:ext uri="{FF2B5EF4-FFF2-40B4-BE49-F238E27FC236}">
                  <a16:creationId xmlns:a16="http://schemas.microsoft.com/office/drawing/2014/main" id="{7BC6203E-560F-EE4A-BC10-4F75A40BB0B8}"/>
                </a:ext>
              </a:extLst>
            </p:cNvPr>
            <p:cNvSpPr txBox="1"/>
            <p:nvPr/>
          </p:nvSpPr>
          <p:spPr>
            <a:xfrm>
              <a:off x="850900" y="3302000"/>
              <a:ext cx="2095500" cy="954107"/>
            </a:xfrm>
            <a:prstGeom prst="rect">
              <a:avLst/>
            </a:prstGeom>
            <a:noFill/>
          </p:spPr>
          <p:txBody>
            <a:bodyPr vertOverflow="overflow" vert="horz" wrap="square" rtlCol="0" anchor="t">
              <a:spAutoFit/>
            </a:bodyPr>
            <a:lstStyle/>
            <a:p>
              <a:pPr algn="l"/>
              <a:r>
                <a:rPr lang="de-DE" sz="1400" dirty="0">
                  <a:solidFill>
                    <a:srgbClr val="8B95A8"/>
                  </a:solidFill>
                </a:rPr>
                <a:t>Rechtsform, Gesellschafterstruktur und regulatorische Grundlagen</a:t>
              </a:r>
            </a:p>
          </p:txBody>
        </p:sp>
      </p:grpSp>
      <p:grpSp>
        <p:nvGrpSpPr>
          <p:cNvPr id="28" name="Gruppieren 27">
            <a:extLst>
              <a:ext uri="{FF2B5EF4-FFF2-40B4-BE49-F238E27FC236}">
                <a16:creationId xmlns:a16="http://schemas.microsoft.com/office/drawing/2014/main" id="{AC62161A-535E-0B3B-D36F-98DA3259D984}"/>
              </a:ext>
            </a:extLst>
          </p:cNvPr>
          <p:cNvGrpSpPr/>
          <p:nvPr/>
        </p:nvGrpSpPr>
        <p:grpSpPr>
          <a:xfrm>
            <a:off x="3530600" y="2032000"/>
            <a:ext cx="2349500" cy="2286000"/>
            <a:chOff x="3530600" y="2032000"/>
            <a:chExt cx="2349500" cy="2286000"/>
          </a:xfrm>
        </p:grpSpPr>
        <p:sp>
          <p:nvSpPr>
            <p:cNvPr id="9" name="Abgerundetes Rechteck 8">
              <a:extLst>
                <a:ext uri="{FF2B5EF4-FFF2-40B4-BE49-F238E27FC236}">
                  <a16:creationId xmlns:a16="http://schemas.microsoft.com/office/drawing/2014/main" id="{A873B7D9-E625-B864-E0B7-B8D55814D6AC}"/>
                </a:ext>
              </a:extLst>
            </p:cNvPr>
            <p:cNvSpPr/>
            <p:nvPr/>
          </p:nvSpPr>
          <p:spPr>
            <a:xfrm>
              <a:off x="3530600" y="2032000"/>
              <a:ext cx="2349500" cy="2286000"/>
            </a:xfrm>
            <a:prstGeom prst="roundRect">
              <a:avLst>
                <a:gd name="adj" fmla="val 6770"/>
              </a:avLst>
            </a:prstGeom>
            <a:solidFill>
              <a:srgbClr val="131B2E"/>
            </a:solidFill>
            <a:ln w="12700" cap="flat" cmpd="sng" algn="ctr">
              <a:solidFill>
                <a:srgbClr val="1E2A4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11" name="Textfeld 10">
              <a:extLst>
                <a:ext uri="{FF2B5EF4-FFF2-40B4-BE49-F238E27FC236}">
                  <a16:creationId xmlns:a16="http://schemas.microsoft.com/office/drawing/2014/main" id="{C6533D25-339C-53E9-447B-90AA41AFE3E4}"/>
                </a:ext>
              </a:extLst>
            </p:cNvPr>
            <p:cNvSpPr txBox="1"/>
            <p:nvPr/>
          </p:nvSpPr>
          <p:spPr>
            <a:xfrm>
              <a:off x="3657600" y="2603500"/>
              <a:ext cx="2095500" cy="584775"/>
            </a:xfrm>
            <a:prstGeom prst="rect">
              <a:avLst/>
            </a:prstGeom>
            <a:noFill/>
          </p:spPr>
          <p:txBody>
            <a:bodyPr vertOverflow="overflow" vert="horz" wrap="square" rtlCol="0" anchor="t">
              <a:spAutoFit/>
            </a:bodyPr>
            <a:lstStyle/>
            <a:p>
              <a:pPr algn="l"/>
              <a:r>
                <a:rPr lang="de-DE" sz="1600" b="1" dirty="0">
                  <a:solidFill>
                    <a:srgbClr val="FFFFFF"/>
                  </a:solidFill>
                </a:rPr>
                <a:t>Team- &amp;
Organisation</a:t>
              </a:r>
            </a:p>
          </p:txBody>
        </p:sp>
        <p:sp>
          <p:nvSpPr>
            <p:cNvPr id="12" name="Textfeld 11">
              <a:extLst>
                <a:ext uri="{FF2B5EF4-FFF2-40B4-BE49-F238E27FC236}">
                  <a16:creationId xmlns:a16="http://schemas.microsoft.com/office/drawing/2014/main" id="{07B13DB0-69EC-8A36-015D-4E59522EFDBB}"/>
                </a:ext>
              </a:extLst>
            </p:cNvPr>
            <p:cNvSpPr txBox="1"/>
            <p:nvPr/>
          </p:nvSpPr>
          <p:spPr>
            <a:xfrm>
              <a:off x="3657600" y="3302000"/>
              <a:ext cx="2095500" cy="738664"/>
            </a:xfrm>
            <a:prstGeom prst="rect">
              <a:avLst/>
            </a:prstGeom>
            <a:noFill/>
          </p:spPr>
          <p:txBody>
            <a:bodyPr vertOverflow="overflow" vert="horz" wrap="square" rtlCol="0" anchor="t">
              <a:spAutoFit/>
            </a:bodyPr>
            <a:lstStyle/>
            <a:p>
              <a:pPr algn="l"/>
              <a:r>
                <a:rPr lang="de-DE" sz="1400" dirty="0">
                  <a:solidFill>
                    <a:srgbClr val="8B95A8"/>
                  </a:solidFill>
                </a:rPr>
                <a:t>Rollenprofile, Hiring-Strategie und agile Teamstrukturen</a:t>
              </a:r>
            </a:p>
          </p:txBody>
        </p:sp>
      </p:grpSp>
      <p:grpSp>
        <p:nvGrpSpPr>
          <p:cNvPr id="29" name="Gruppieren 28">
            <a:extLst>
              <a:ext uri="{FF2B5EF4-FFF2-40B4-BE49-F238E27FC236}">
                <a16:creationId xmlns:a16="http://schemas.microsoft.com/office/drawing/2014/main" id="{FB1F9B4C-3159-F69E-0FE1-2F0735DE2807}"/>
              </a:ext>
            </a:extLst>
          </p:cNvPr>
          <p:cNvGrpSpPr/>
          <p:nvPr/>
        </p:nvGrpSpPr>
        <p:grpSpPr>
          <a:xfrm>
            <a:off x="6337300" y="2032000"/>
            <a:ext cx="2349500" cy="2286000"/>
            <a:chOff x="6337300" y="2032000"/>
            <a:chExt cx="2349500" cy="2286000"/>
          </a:xfrm>
        </p:grpSpPr>
        <p:sp>
          <p:nvSpPr>
            <p:cNvPr id="14" name="Abgerundetes Rechteck 13">
              <a:extLst>
                <a:ext uri="{FF2B5EF4-FFF2-40B4-BE49-F238E27FC236}">
                  <a16:creationId xmlns:a16="http://schemas.microsoft.com/office/drawing/2014/main" id="{ADBA5481-70B1-A010-6E06-AA710DE0D37E}"/>
                </a:ext>
              </a:extLst>
            </p:cNvPr>
            <p:cNvSpPr/>
            <p:nvPr/>
          </p:nvSpPr>
          <p:spPr>
            <a:xfrm>
              <a:off x="6337300" y="2032000"/>
              <a:ext cx="2349500" cy="2286000"/>
            </a:xfrm>
            <a:prstGeom prst="roundRect">
              <a:avLst>
                <a:gd name="adj" fmla="val 8007"/>
              </a:avLst>
            </a:prstGeom>
            <a:solidFill>
              <a:srgbClr val="131B2E"/>
            </a:solidFill>
            <a:ln w="12700" cap="flat" cmpd="sng" algn="ctr">
              <a:solidFill>
                <a:srgbClr val="1E2A4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16" name="Textfeld 15">
              <a:extLst>
                <a:ext uri="{FF2B5EF4-FFF2-40B4-BE49-F238E27FC236}">
                  <a16:creationId xmlns:a16="http://schemas.microsoft.com/office/drawing/2014/main" id="{1DAD22CC-9F9C-0ACD-A5E7-E8268697212A}"/>
                </a:ext>
              </a:extLst>
            </p:cNvPr>
            <p:cNvSpPr txBox="1"/>
            <p:nvPr/>
          </p:nvSpPr>
          <p:spPr>
            <a:xfrm>
              <a:off x="6464300" y="2603500"/>
              <a:ext cx="2095500" cy="584775"/>
            </a:xfrm>
            <a:prstGeom prst="rect">
              <a:avLst/>
            </a:prstGeom>
            <a:noFill/>
          </p:spPr>
          <p:txBody>
            <a:bodyPr vertOverflow="overflow" vert="horz" wrap="square" rtlCol="0" anchor="t">
              <a:spAutoFit/>
            </a:bodyPr>
            <a:lstStyle/>
            <a:p>
              <a:pPr algn="l"/>
              <a:r>
                <a:rPr lang="de-DE" sz="1600" b="1" dirty="0">
                  <a:solidFill>
                    <a:srgbClr val="FFFFFF"/>
                  </a:solidFill>
                </a:rPr>
                <a:t>Prozesse &amp;
Tooling</a:t>
              </a:r>
            </a:p>
          </p:txBody>
        </p:sp>
        <p:sp>
          <p:nvSpPr>
            <p:cNvPr id="17" name="Textfeld 16">
              <a:extLst>
                <a:ext uri="{FF2B5EF4-FFF2-40B4-BE49-F238E27FC236}">
                  <a16:creationId xmlns:a16="http://schemas.microsoft.com/office/drawing/2014/main" id="{B306D47A-F955-1741-73B6-FA455B107091}"/>
                </a:ext>
              </a:extLst>
            </p:cNvPr>
            <p:cNvSpPr txBox="1"/>
            <p:nvPr/>
          </p:nvSpPr>
          <p:spPr>
            <a:xfrm>
              <a:off x="6464300" y="3302000"/>
              <a:ext cx="2095500" cy="738664"/>
            </a:xfrm>
            <a:prstGeom prst="rect">
              <a:avLst/>
            </a:prstGeom>
            <a:noFill/>
          </p:spPr>
          <p:txBody>
            <a:bodyPr vertOverflow="overflow" vert="horz" wrap="square" rtlCol="0" anchor="t">
              <a:spAutoFit/>
            </a:bodyPr>
            <a:lstStyle/>
            <a:p>
              <a:pPr algn="l"/>
              <a:r>
                <a:rPr lang="de-DE" sz="1400" dirty="0">
                  <a:solidFill>
                    <a:srgbClr val="8B95A8"/>
                  </a:solidFill>
                </a:rPr>
                <a:t>Kernprozesse, Tech-Stack und Automatisierung für effiziente Abläufe</a:t>
              </a:r>
            </a:p>
          </p:txBody>
        </p:sp>
      </p:grpSp>
      <p:grpSp>
        <p:nvGrpSpPr>
          <p:cNvPr id="30" name="Gruppieren 29">
            <a:extLst>
              <a:ext uri="{FF2B5EF4-FFF2-40B4-BE49-F238E27FC236}">
                <a16:creationId xmlns:a16="http://schemas.microsoft.com/office/drawing/2014/main" id="{4BF94ECB-56CF-DE7F-4EBD-65CB4CFD937C}"/>
              </a:ext>
            </a:extLst>
          </p:cNvPr>
          <p:cNvGrpSpPr/>
          <p:nvPr/>
        </p:nvGrpSpPr>
        <p:grpSpPr>
          <a:xfrm>
            <a:off x="9118600" y="2032000"/>
            <a:ext cx="2349500" cy="2286000"/>
            <a:chOff x="9118600" y="2032000"/>
            <a:chExt cx="2349500" cy="2286000"/>
          </a:xfrm>
        </p:grpSpPr>
        <p:sp>
          <p:nvSpPr>
            <p:cNvPr id="19" name="Abgerundetes Rechteck 18">
              <a:extLst>
                <a:ext uri="{FF2B5EF4-FFF2-40B4-BE49-F238E27FC236}">
                  <a16:creationId xmlns:a16="http://schemas.microsoft.com/office/drawing/2014/main" id="{6CCADF32-A55E-AED6-096D-8FBFEABA610D}"/>
                </a:ext>
              </a:extLst>
            </p:cNvPr>
            <p:cNvSpPr/>
            <p:nvPr/>
          </p:nvSpPr>
          <p:spPr>
            <a:xfrm>
              <a:off x="9118600" y="2032000"/>
              <a:ext cx="2349500" cy="2286000"/>
            </a:xfrm>
            <a:prstGeom prst="roundRect">
              <a:avLst>
                <a:gd name="adj" fmla="val 10481"/>
              </a:avLst>
            </a:prstGeom>
            <a:solidFill>
              <a:srgbClr val="131B2E"/>
            </a:solidFill>
            <a:ln w="12700" cap="flat" cmpd="sng" algn="ctr">
              <a:solidFill>
                <a:srgbClr val="1E2A4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21" name="Textfeld 20">
              <a:extLst>
                <a:ext uri="{FF2B5EF4-FFF2-40B4-BE49-F238E27FC236}">
                  <a16:creationId xmlns:a16="http://schemas.microsoft.com/office/drawing/2014/main" id="{30EF007F-C357-80DB-679E-4A8E3F39E6D5}"/>
                </a:ext>
              </a:extLst>
            </p:cNvPr>
            <p:cNvSpPr txBox="1"/>
            <p:nvPr/>
          </p:nvSpPr>
          <p:spPr>
            <a:xfrm>
              <a:off x="9245600" y="2603500"/>
              <a:ext cx="2095500" cy="584775"/>
            </a:xfrm>
            <a:prstGeom prst="rect">
              <a:avLst/>
            </a:prstGeom>
            <a:noFill/>
          </p:spPr>
          <p:txBody>
            <a:bodyPr vertOverflow="overflow" vert="horz" wrap="square" rtlCol="0" anchor="t">
              <a:spAutoFit/>
            </a:bodyPr>
            <a:lstStyle/>
            <a:p>
              <a:pPr algn="l"/>
              <a:r>
                <a:rPr lang="de-DE" sz="1600" b="1" dirty="0">
                  <a:solidFill>
                    <a:srgbClr val="FFFFFF"/>
                  </a:solidFill>
                </a:rPr>
                <a:t>Finanzierung &amp;
Controlling</a:t>
              </a:r>
            </a:p>
          </p:txBody>
        </p:sp>
        <p:sp>
          <p:nvSpPr>
            <p:cNvPr id="22" name="Textfeld 21">
              <a:extLst>
                <a:ext uri="{FF2B5EF4-FFF2-40B4-BE49-F238E27FC236}">
                  <a16:creationId xmlns:a16="http://schemas.microsoft.com/office/drawing/2014/main" id="{3A5E0DCD-C5DB-6ED1-BB6B-7F2C94EBAFEE}"/>
                </a:ext>
              </a:extLst>
            </p:cNvPr>
            <p:cNvSpPr txBox="1"/>
            <p:nvPr/>
          </p:nvSpPr>
          <p:spPr>
            <a:xfrm>
              <a:off x="9245600" y="3302000"/>
              <a:ext cx="2095500" cy="738664"/>
            </a:xfrm>
            <a:prstGeom prst="rect">
              <a:avLst/>
            </a:prstGeom>
            <a:noFill/>
          </p:spPr>
          <p:txBody>
            <a:bodyPr vertOverflow="overflow" vert="horz" wrap="square" rtlCol="0" anchor="t">
              <a:spAutoFit/>
            </a:bodyPr>
            <a:lstStyle/>
            <a:p>
              <a:pPr algn="l"/>
              <a:r>
                <a:rPr lang="de-DE" sz="1400" dirty="0">
                  <a:solidFill>
                    <a:srgbClr val="8B95A8"/>
                  </a:solidFill>
                </a:rPr>
                <a:t>Finanzplanung, Investorensuche und KPI-basiertes Reporting</a:t>
              </a:r>
            </a:p>
          </p:txBody>
        </p:sp>
      </p:grpSp>
      <p:grpSp>
        <p:nvGrpSpPr>
          <p:cNvPr id="26" name="Gruppieren 25">
            <a:extLst>
              <a:ext uri="{FF2B5EF4-FFF2-40B4-BE49-F238E27FC236}">
                <a16:creationId xmlns:a16="http://schemas.microsoft.com/office/drawing/2014/main" id="{0161CF8E-F17B-7A7A-AEAF-0C2FCF694247}"/>
              </a:ext>
            </a:extLst>
          </p:cNvPr>
          <p:cNvGrpSpPr/>
          <p:nvPr/>
        </p:nvGrpSpPr>
        <p:grpSpPr>
          <a:xfrm>
            <a:off x="723900" y="4773027"/>
            <a:ext cx="10744200" cy="1097961"/>
            <a:chOff x="723900" y="4773027"/>
            <a:chExt cx="10744200" cy="1097961"/>
          </a:xfrm>
        </p:grpSpPr>
        <p:sp>
          <p:nvSpPr>
            <p:cNvPr id="23" name="Abgerundetes Rechteck 22">
              <a:extLst>
                <a:ext uri="{FF2B5EF4-FFF2-40B4-BE49-F238E27FC236}">
                  <a16:creationId xmlns:a16="http://schemas.microsoft.com/office/drawing/2014/main" id="{A0EFEFAA-A4B4-A753-2248-DF0687F3B3F7}"/>
                </a:ext>
              </a:extLst>
            </p:cNvPr>
            <p:cNvSpPr/>
            <p:nvPr/>
          </p:nvSpPr>
          <p:spPr>
            <a:xfrm>
              <a:off x="723900" y="4773027"/>
              <a:ext cx="10744200" cy="1097961"/>
            </a:xfrm>
            <a:prstGeom prst="roundRect">
              <a:avLst>
                <a:gd name="adj" fmla="val 12618"/>
              </a:avLst>
            </a:prstGeom>
            <a:solidFill>
              <a:srgbClr val="1C1508"/>
            </a:solidFill>
            <a:ln w="12700" cap="flat" cmpd="sng" algn="ctr">
              <a:solidFill>
                <a:srgbClr val="F59E0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24" name="Textfeld 23">
              <a:extLst>
                <a:ext uri="{FF2B5EF4-FFF2-40B4-BE49-F238E27FC236}">
                  <a16:creationId xmlns:a16="http://schemas.microsoft.com/office/drawing/2014/main" id="{9F0F9720-C1A2-A2BA-909F-8F42E267E85D}"/>
                </a:ext>
              </a:extLst>
            </p:cNvPr>
            <p:cNvSpPr txBox="1"/>
            <p:nvPr/>
          </p:nvSpPr>
          <p:spPr>
            <a:xfrm>
              <a:off x="952500" y="4874627"/>
              <a:ext cx="1270000" cy="307777"/>
            </a:xfrm>
            <a:prstGeom prst="rect">
              <a:avLst/>
            </a:prstGeom>
            <a:noFill/>
          </p:spPr>
          <p:txBody>
            <a:bodyPr vertOverflow="overflow" vert="horz" wrap="square" rtlCol="0" anchor="t">
              <a:spAutoFit/>
            </a:bodyPr>
            <a:lstStyle/>
            <a:p>
              <a:pPr algn="l"/>
              <a:r>
                <a:rPr lang="de-DE" sz="1400" b="1">
                  <a:solidFill>
                    <a:srgbClr val="F59E0B"/>
                  </a:solidFill>
                </a:rPr>
                <a:t>Ergebnis</a:t>
              </a:r>
            </a:p>
          </p:txBody>
        </p:sp>
        <p:sp>
          <p:nvSpPr>
            <p:cNvPr id="25" name="Textfeld 24">
              <a:extLst>
                <a:ext uri="{FF2B5EF4-FFF2-40B4-BE49-F238E27FC236}">
                  <a16:creationId xmlns:a16="http://schemas.microsoft.com/office/drawing/2014/main" id="{33D4F622-7674-FA45-DAA5-674A424A0BB3}"/>
                </a:ext>
              </a:extLst>
            </p:cNvPr>
            <p:cNvSpPr txBox="1"/>
            <p:nvPr/>
          </p:nvSpPr>
          <p:spPr>
            <a:xfrm>
              <a:off x="952500" y="5204827"/>
              <a:ext cx="10287000" cy="553998"/>
            </a:xfrm>
            <a:prstGeom prst="rect">
              <a:avLst/>
            </a:prstGeom>
            <a:noFill/>
          </p:spPr>
          <p:txBody>
            <a:bodyPr vertOverflow="overflow" vert="horz" wrap="square" rtlCol="0" anchor="t">
              <a:spAutoFit/>
            </a:bodyPr>
            <a:lstStyle/>
            <a:p>
              <a:pPr algn="l"/>
              <a:r>
                <a:rPr lang="de-DE" sz="1500" dirty="0">
                  <a:solidFill>
                    <a:srgbClr val="C8D0DC"/>
                  </a:solidFill>
                </a:rPr>
                <a:t>Vollständiges Company-Setup mit klarer Organisationsstruktur, definierten Prozessen und Finanzierungs-Roadmap. </a:t>
              </a:r>
              <a:br>
                <a:rPr lang="de-DE" sz="1500" dirty="0">
                  <a:solidFill>
                    <a:srgbClr val="C8D0DC"/>
                  </a:solidFill>
                </a:rPr>
              </a:br>
              <a:r>
                <a:rPr lang="de-DE" sz="1500" dirty="0">
                  <a:solidFill>
                    <a:srgbClr val="C8D0DC"/>
                  </a:solidFill>
                </a:rPr>
                <a:t>Sie erhalten ein Operating Model inkl. Management-Framework für nachhaltiges Wachstum.</a:t>
              </a:r>
            </a:p>
          </p:txBody>
        </p:sp>
      </p:grpSp>
    </p:spTree>
    <p:extLst>
      <p:ext uri="{BB962C8B-B14F-4D97-AF65-F5344CB8AC3E}">
        <p14:creationId xmlns:p14="http://schemas.microsoft.com/office/powerpoint/2010/main" val="832719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dissolve">
                                      <p:cBhvr>
                                        <p:cTn id="7" dur="500"/>
                                        <p:tgtEl>
                                          <p:spTgt spid="27"/>
                                        </p:tgtEl>
                                      </p:cBhvr>
                                    </p:animEffect>
                                  </p:childTnLst>
                                </p:cTn>
                              </p:par>
                              <p:par>
                                <p:cTn id="8" presetID="9" presetClass="entr" presetSubtype="0" fill="hold"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dissolve">
                                      <p:cBhvr>
                                        <p:cTn id="10" dur="500"/>
                                        <p:tgtEl>
                                          <p:spTgt spid="28"/>
                                        </p:tgtEl>
                                      </p:cBhvr>
                                    </p:animEffect>
                                  </p:childTnLst>
                                </p:cTn>
                              </p:par>
                              <p:par>
                                <p:cTn id="11" presetID="9" presetClass="entr" presetSubtype="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dissolve">
                                      <p:cBhvr>
                                        <p:cTn id="13" dur="500"/>
                                        <p:tgtEl>
                                          <p:spTgt spid="29"/>
                                        </p:tgtEl>
                                      </p:cBhvr>
                                    </p:animEffect>
                                  </p:childTnLst>
                                </p:cTn>
                              </p:par>
                              <p:par>
                                <p:cTn id="14" presetID="9" presetClass="entr" presetSubtype="0" fill="hold"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dissolve">
                                      <p:cBhvr>
                                        <p:cTn id="16" dur="500"/>
                                        <p:tgtEl>
                                          <p:spTgt spid="30"/>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BDE44-5DEA-6AE5-586A-4A0778DAFD56}"/>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878857DC-A869-A2D4-1C52-9E476CA73018}"/>
              </a:ext>
            </a:extLst>
          </p:cNvPr>
          <p:cNvSpPr>
            <a:spLocks noGrp="1"/>
          </p:cNvSpPr>
          <p:nvPr>
            <p:ph type="title"/>
          </p:nvPr>
        </p:nvSpPr>
        <p:spPr>
          <a:xfrm>
            <a:off x="839788" y="457200"/>
            <a:ext cx="3932237" cy="1600200"/>
          </a:xfrm>
        </p:spPr>
        <p:txBody>
          <a:bodyPr anchor="b">
            <a:normAutofit/>
          </a:bodyPr>
          <a:lstStyle/>
          <a:p>
            <a:pPr>
              <a:buNone/>
            </a:pPr>
            <a:r>
              <a:rPr lang="de-DE" b="1" dirty="0"/>
              <a:t>Von der Idee zum Unternehmen</a:t>
            </a:r>
          </a:p>
        </p:txBody>
      </p:sp>
      <p:pic>
        <p:nvPicPr>
          <p:cNvPr id="2" name="Grafik 1">
            <a:extLst>
              <a:ext uri="{FF2B5EF4-FFF2-40B4-BE49-F238E27FC236}">
                <a16:creationId xmlns:a16="http://schemas.microsoft.com/office/drawing/2014/main" id="{18480A5E-9872-9BC2-C2AB-D80A0454FCB4}"/>
              </a:ext>
            </a:extLst>
          </p:cNvPr>
          <p:cNvPicPr>
            <a:picLocks noChangeAspect="1"/>
          </p:cNvPicPr>
          <p:nvPr/>
        </p:nvPicPr>
        <p:blipFill>
          <a:blip r:embed="rId3"/>
          <a:stretch>
            <a:fillRect/>
          </a:stretch>
        </p:blipFill>
        <p:spPr>
          <a:xfrm>
            <a:off x="5183188" y="1109661"/>
            <a:ext cx="6172200" cy="4629152"/>
          </a:xfrm>
          <a:prstGeom prst="rect">
            <a:avLst/>
          </a:prstGeom>
          <a:noFill/>
        </p:spPr>
      </p:pic>
    </p:spTree>
    <p:extLst>
      <p:ext uri="{BB962C8B-B14F-4D97-AF65-F5344CB8AC3E}">
        <p14:creationId xmlns:p14="http://schemas.microsoft.com/office/powerpoint/2010/main" val="9624345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C573165-C623-F0EB-5AF4-217AB5BC7195}"/>
              </a:ext>
            </a:extLst>
          </p:cNvPr>
          <p:cNvSpPr>
            <a:spLocks noGrp="1"/>
          </p:cNvSpPr>
          <p:nvPr>
            <p:ph type="title"/>
          </p:nvPr>
        </p:nvSpPr>
        <p:spPr/>
        <p:txBody>
          <a:bodyPr>
            <a:normAutofit/>
          </a:bodyPr>
          <a:lstStyle/>
          <a:p>
            <a:r>
              <a:rPr lang="de-DE" sz="3200" b="1" dirty="0"/>
              <a:t>Kosten &amp; Aufwände</a:t>
            </a:r>
          </a:p>
        </p:txBody>
      </p:sp>
      <p:graphicFrame>
        <p:nvGraphicFramePr>
          <p:cNvPr id="4" name="Tabelle 3">
            <a:extLst>
              <a:ext uri="{FF2B5EF4-FFF2-40B4-BE49-F238E27FC236}">
                <a16:creationId xmlns:a16="http://schemas.microsoft.com/office/drawing/2014/main" id="{E9B92E7B-EE29-2A4C-B6F4-7B07A4DA503C}"/>
              </a:ext>
            </a:extLst>
          </p:cNvPr>
          <p:cNvGraphicFramePr>
            <a:graphicFrameLocks noGrp="1"/>
          </p:cNvGraphicFramePr>
          <p:nvPr/>
        </p:nvGraphicFramePr>
        <p:xfrm>
          <a:off x="723900" y="1419423"/>
          <a:ext cx="10744200" cy="3175000"/>
        </p:xfrm>
        <a:graphic>
          <a:graphicData uri="http://schemas.openxmlformats.org/drawingml/2006/table">
            <a:tbl>
              <a:tblPr firstRow="1" bandRow="1">
                <a:tableStyleId>{5C22544A-7EE6-4342-B048-85BDC9FD1C3A}</a:tableStyleId>
              </a:tblPr>
              <a:tblGrid>
                <a:gridCol w="3175000">
                  <a:extLst>
                    <a:ext uri="{9D8B030D-6E8A-4147-A177-3AD203B41FA5}">
                      <a16:colId xmlns:a16="http://schemas.microsoft.com/office/drawing/2014/main" val="3416175972"/>
                    </a:ext>
                  </a:extLst>
                </a:gridCol>
                <a:gridCol w="2286000">
                  <a:extLst>
                    <a:ext uri="{9D8B030D-6E8A-4147-A177-3AD203B41FA5}">
                      <a16:colId xmlns:a16="http://schemas.microsoft.com/office/drawing/2014/main" val="3698542862"/>
                    </a:ext>
                  </a:extLst>
                </a:gridCol>
                <a:gridCol w="2540000">
                  <a:extLst>
                    <a:ext uri="{9D8B030D-6E8A-4147-A177-3AD203B41FA5}">
                      <a16:colId xmlns:a16="http://schemas.microsoft.com/office/drawing/2014/main" val="3007004256"/>
                    </a:ext>
                  </a:extLst>
                </a:gridCol>
                <a:gridCol w="2743200">
                  <a:extLst>
                    <a:ext uri="{9D8B030D-6E8A-4147-A177-3AD203B41FA5}">
                      <a16:colId xmlns:a16="http://schemas.microsoft.com/office/drawing/2014/main" val="3269269099"/>
                    </a:ext>
                  </a:extLst>
                </a:gridCol>
              </a:tblGrid>
              <a:tr h="635000">
                <a:tc>
                  <a:txBody>
                    <a:bodyPr/>
                    <a:lstStyle/>
                    <a:p>
                      <a:pPr algn="ctr"/>
                      <a:r>
                        <a:rPr lang="de-DE" sz="1400" b="1" dirty="0">
                          <a:solidFill>
                            <a:srgbClr val="0B1120"/>
                          </a:solidFill>
                          <a:latin typeface="Inter"/>
                        </a:rPr>
                        <a:t>Leistung</a:t>
                      </a:r>
                    </a:p>
                  </a:txBody>
                  <a:tcPr anchor="ctr">
                    <a:solidFill>
                      <a:srgbClr val="00C896"/>
                    </a:solidFill>
                  </a:tcPr>
                </a:tc>
                <a:tc>
                  <a:txBody>
                    <a:bodyPr/>
                    <a:lstStyle/>
                    <a:p>
                      <a:pPr algn="ctr"/>
                      <a:r>
                        <a:rPr lang="de-DE" sz="1400" b="1">
                          <a:solidFill>
                            <a:srgbClr val="0B1120"/>
                          </a:solidFill>
                          <a:latin typeface="Inter"/>
                        </a:rPr>
                        <a:t>Dauer</a:t>
                      </a:r>
                    </a:p>
                  </a:txBody>
                  <a:tcPr anchor="ctr">
                    <a:solidFill>
                      <a:srgbClr val="00C896"/>
                    </a:solidFill>
                  </a:tcPr>
                </a:tc>
                <a:tc>
                  <a:txBody>
                    <a:bodyPr/>
                    <a:lstStyle/>
                    <a:p>
                      <a:pPr algn="ctr"/>
                      <a:r>
                        <a:rPr lang="de-DE" sz="1400" b="1">
                          <a:solidFill>
                            <a:srgbClr val="0B1120"/>
                          </a:solidFill>
                          <a:latin typeface="Inter"/>
                        </a:rPr>
                        <a:t>Aufwand</a:t>
                      </a:r>
                    </a:p>
                  </a:txBody>
                  <a:tcPr anchor="ctr">
                    <a:solidFill>
                      <a:srgbClr val="00C896"/>
                    </a:solidFill>
                  </a:tcPr>
                </a:tc>
                <a:tc>
                  <a:txBody>
                    <a:bodyPr/>
                    <a:lstStyle/>
                    <a:p>
                      <a:pPr algn="ctr"/>
                      <a:r>
                        <a:rPr lang="de-DE" sz="1400" b="1">
                          <a:solidFill>
                            <a:srgbClr val="0B1120"/>
                          </a:solidFill>
                          <a:latin typeface="Inter"/>
                        </a:rPr>
                        <a:t>Investition</a:t>
                      </a:r>
                    </a:p>
                  </a:txBody>
                  <a:tcPr anchor="ctr">
                    <a:solidFill>
                      <a:srgbClr val="00C896"/>
                    </a:solidFill>
                  </a:tcPr>
                </a:tc>
                <a:extLst>
                  <a:ext uri="{0D108BD9-81ED-4DB2-BD59-A6C34878D82A}">
                    <a16:rowId xmlns:a16="http://schemas.microsoft.com/office/drawing/2014/main" val="3276591655"/>
                  </a:ext>
                </a:extLst>
              </a:tr>
              <a:tr h="635000">
                <a:tc>
                  <a:txBody>
                    <a:bodyPr/>
                    <a:lstStyle/>
                    <a:p>
                      <a:pPr algn="l"/>
                      <a:r>
                        <a:rPr lang="de-DE" sz="1400" b="1">
                          <a:solidFill>
                            <a:srgbClr val="FFFFFF"/>
                          </a:solidFill>
                          <a:latin typeface="Inter"/>
                        </a:rPr>
                        <a:t>KI-Strategieberatung</a:t>
                      </a:r>
                    </a:p>
                  </a:txBody>
                  <a:tcPr anchor="ctr">
                    <a:solidFill>
                      <a:srgbClr val="131B2E"/>
                    </a:solidFill>
                  </a:tcPr>
                </a:tc>
                <a:tc>
                  <a:txBody>
                    <a:bodyPr/>
                    <a:lstStyle/>
                    <a:p>
                      <a:pPr algn="ctr"/>
                      <a:r>
                        <a:rPr lang="de-DE" sz="1400" dirty="0">
                          <a:solidFill>
                            <a:srgbClr val="C8D0DC"/>
                          </a:solidFill>
                          <a:latin typeface="Inter"/>
                        </a:rPr>
                        <a:t>2-3 Wochen</a:t>
                      </a:r>
                    </a:p>
                  </a:txBody>
                  <a:tcPr anchor="ctr">
                    <a:solidFill>
                      <a:srgbClr val="131B2E"/>
                    </a:solidFill>
                  </a:tcPr>
                </a:tc>
                <a:tc>
                  <a:txBody>
                    <a:bodyPr/>
                    <a:lstStyle/>
                    <a:p>
                      <a:pPr algn="ctr"/>
                      <a:r>
                        <a:rPr lang="de-DE" sz="1400" dirty="0">
                          <a:solidFill>
                            <a:srgbClr val="C8D0DC"/>
                          </a:solidFill>
                          <a:latin typeface="Inter"/>
                        </a:rPr>
                        <a:t>3-5 Beratertage</a:t>
                      </a:r>
                    </a:p>
                  </a:txBody>
                  <a:tcPr anchor="ctr">
                    <a:solidFill>
                      <a:srgbClr val="131B2E"/>
                    </a:solidFill>
                  </a:tcPr>
                </a:tc>
                <a:tc>
                  <a:txBody>
                    <a:bodyPr/>
                    <a:lstStyle/>
                    <a:p>
                      <a:pPr algn="ctr"/>
                      <a:r>
                        <a:rPr lang="de-DE" sz="1400" b="1" dirty="0">
                          <a:solidFill>
                            <a:srgbClr val="00C896"/>
                          </a:solidFill>
                          <a:latin typeface="Inter"/>
                        </a:rPr>
                        <a:t>ab 4.800 €</a:t>
                      </a:r>
                    </a:p>
                  </a:txBody>
                  <a:tcPr anchor="ctr">
                    <a:solidFill>
                      <a:srgbClr val="131B2E"/>
                    </a:solidFill>
                  </a:tcPr>
                </a:tc>
                <a:extLst>
                  <a:ext uri="{0D108BD9-81ED-4DB2-BD59-A6C34878D82A}">
                    <a16:rowId xmlns:a16="http://schemas.microsoft.com/office/drawing/2014/main" val="2730648595"/>
                  </a:ext>
                </a:extLst>
              </a:tr>
              <a:tr h="635000">
                <a:tc>
                  <a:txBody>
                    <a:bodyPr/>
                    <a:lstStyle/>
                    <a:p>
                      <a:pPr algn="l"/>
                      <a:r>
                        <a:rPr lang="de-DE" sz="1400" b="1" dirty="0">
                          <a:solidFill>
                            <a:srgbClr val="FFFFFF"/>
                          </a:solidFill>
                          <a:latin typeface="Inter"/>
                        </a:rPr>
                        <a:t>Software-</a:t>
                      </a:r>
                      <a:r>
                        <a:rPr lang="de-DE" sz="1400" b="1" dirty="0" err="1">
                          <a:solidFill>
                            <a:srgbClr val="FFFFFF"/>
                          </a:solidFill>
                          <a:latin typeface="Inter"/>
                        </a:rPr>
                        <a:t>Prototyping</a:t>
                      </a:r>
                      <a:endParaRPr lang="de-DE" sz="1400" b="1" dirty="0">
                        <a:solidFill>
                          <a:srgbClr val="FFFFFF"/>
                        </a:solidFill>
                        <a:latin typeface="Inter"/>
                      </a:endParaRPr>
                    </a:p>
                  </a:txBody>
                  <a:tcPr anchor="ctr">
                    <a:solidFill>
                      <a:srgbClr val="0F1625"/>
                    </a:solidFill>
                  </a:tcPr>
                </a:tc>
                <a:tc>
                  <a:txBody>
                    <a:bodyPr/>
                    <a:lstStyle/>
                    <a:p>
                      <a:pPr algn="ctr"/>
                      <a:r>
                        <a:rPr lang="de-DE" sz="1400" dirty="0">
                          <a:solidFill>
                            <a:srgbClr val="C8D0DC"/>
                          </a:solidFill>
                          <a:latin typeface="Inter"/>
                        </a:rPr>
                        <a:t>4-8 Wochen</a:t>
                      </a:r>
                    </a:p>
                  </a:txBody>
                  <a:tcPr anchor="ctr">
                    <a:solidFill>
                      <a:srgbClr val="0F1625"/>
                    </a:solidFill>
                  </a:tcPr>
                </a:tc>
                <a:tc>
                  <a:txBody>
                    <a:bodyPr/>
                    <a:lstStyle/>
                    <a:p>
                      <a:pPr algn="ctr"/>
                      <a:r>
                        <a:rPr lang="de-DE" sz="1400" dirty="0">
                          <a:solidFill>
                            <a:srgbClr val="C8D0DC"/>
                          </a:solidFill>
                          <a:latin typeface="Inter"/>
                        </a:rPr>
                        <a:t>10-20 Beratertage</a:t>
                      </a:r>
                    </a:p>
                  </a:txBody>
                  <a:tcPr anchor="ctr">
                    <a:solidFill>
                      <a:srgbClr val="0F1625"/>
                    </a:solidFill>
                  </a:tcPr>
                </a:tc>
                <a:tc>
                  <a:txBody>
                    <a:bodyPr/>
                    <a:lstStyle/>
                    <a:p>
                      <a:pPr algn="ctr"/>
                      <a:r>
                        <a:rPr lang="de-DE" sz="1400" b="1" dirty="0">
                          <a:solidFill>
                            <a:srgbClr val="00C896"/>
                          </a:solidFill>
                          <a:latin typeface="Inter"/>
                        </a:rPr>
                        <a:t>ab 14.400 €</a:t>
                      </a:r>
                    </a:p>
                  </a:txBody>
                  <a:tcPr anchor="ctr">
                    <a:solidFill>
                      <a:srgbClr val="0F1625"/>
                    </a:solidFill>
                  </a:tcPr>
                </a:tc>
                <a:extLst>
                  <a:ext uri="{0D108BD9-81ED-4DB2-BD59-A6C34878D82A}">
                    <a16:rowId xmlns:a16="http://schemas.microsoft.com/office/drawing/2014/main" val="19951701"/>
                  </a:ext>
                </a:extLst>
              </a:tr>
              <a:tr h="635000">
                <a:tc>
                  <a:txBody>
                    <a:bodyPr/>
                    <a:lstStyle/>
                    <a:p>
                      <a:pPr algn="l"/>
                      <a:r>
                        <a:rPr lang="de-DE" sz="1400" b="1" dirty="0">
                          <a:solidFill>
                            <a:srgbClr val="FFFFFF"/>
                          </a:solidFill>
                          <a:latin typeface="Inter"/>
                        </a:rPr>
                        <a:t>Go-</a:t>
                      </a:r>
                      <a:r>
                        <a:rPr lang="de-DE" sz="1400" b="1" dirty="0" err="1">
                          <a:solidFill>
                            <a:srgbClr val="FFFFFF"/>
                          </a:solidFill>
                          <a:latin typeface="Inter"/>
                        </a:rPr>
                        <a:t>to</a:t>
                      </a:r>
                      <a:r>
                        <a:rPr lang="de-DE" sz="1400" b="1" dirty="0">
                          <a:solidFill>
                            <a:srgbClr val="FFFFFF"/>
                          </a:solidFill>
                          <a:latin typeface="Inter"/>
                        </a:rPr>
                        <a:t>-Market Beratung</a:t>
                      </a:r>
                    </a:p>
                  </a:txBody>
                  <a:tcPr anchor="ctr">
                    <a:solidFill>
                      <a:srgbClr val="131B2E"/>
                    </a:solidFill>
                  </a:tcPr>
                </a:tc>
                <a:tc>
                  <a:txBody>
                    <a:bodyPr/>
                    <a:lstStyle/>
                    <a:p>
                      <a:pPr algn="ctr"/>
                      <a:r>
                        <a:rPr lang="de-DE" sz="1400" dirty="0">
                          <a:solidFill>
                            <a:srgbClr val="C8D0DC"/>
                          </a:solidFill>
                          <a:latin typeface="Inter"/>
                        </a:rPr>
                        <a:t>3-6 Wochen</a:t>
                      </a:r>
                    </a:p>
                  </a:txBody>
                  <a:tcPr anchor="ctr">
                    <a:solidFill>
                      <a:srgbClr val="131B2E"/>
                    </a:solidFill>
                  </a:tcPr>
                </a:tc>
                <a:tc>
                  <a:txBody>
                    <a:bodyPr/>
                    <a:lstStyle/>
                    <a:p>
                      <a:pPr algn="ctr"/>
                      <a:r>
                        <a:rPr lang="de-DE" sz="1400" dirty="0">
                          <a:solidFill>
                            <a:srgbClr val="C8D0DC"/>
                          </a:solidFill>
                          <a:latin typeface="Inter"/>
                        </a:rPr>
                        <a:t>5-10 Beratertage</a:t>
                      </a:r>
                    </a:p>
                  </a:txBody>
                  <a:tcPr anchor="ctr">
                    <a:solidFill>
                      <a:srgbClr val="131B2E"/>
                    </a:solidFill>
                  </a:tcPr>
                </a:tc>
                <a:tc>
                  <a:txBody>
                    <a:bodyPr/>
                    <a:lstStyle/>
                    <a:p>
                      <a:pPr algn="ctr"/>
                      <a:r>
                        <a:rPr lang="de-DE" sz="1400" b="1" dirty="0">
                          <a:solidFill>
                            <a:srgbClr val="00C896"/>
                          </a:solidFill>
                          <a:latin typeface="Inter"/>
                        </a:rPr>
                        <a:t>ab 8.000 €</a:t>
                      </a:r>
                    </a:p>
                  </a:txBody>
                  <a:tcPr anchor="ctr">
                    <a:solidFill>
                      <a:srgbClr val="131B2E"/>
                    </a:solidFill>
                  </a:tcPr>
                </a:tc>
                <a:extLst>
                  <a:ext uri="{0D108BD9-81ED-4DB2-BD59-A6C34878D82A}">
                    <a16:rowId xmlns:a16="http://schemas.microsoft.com/office/drawing/2014/main" val="1112162342"/>
                  </a:ext>
                </a:extLst>
              </a:tr>
              <a:tr h="635000">
                <a:tc>
                  <a:txBody>
                    <a:bodyPr/>
                    <a:lstStyle/>
                    <a:p>
                      <a:pPr algn="l"/>
                      <a:r>
                        <a:rPr lang="de-DE" sz="1400" b="1" dirty="0">
                          <a:solidFill>
                            <a:srgbClr val="FFFFFF"/>
                          </a:solidFill>
                          <a:latin typeface="Inter"/>
                        </a:rPr>
                        <a:t>Unternehmensaufbau</a:t>
                      </a:r>
                    </a:p>
                  </a:txBody>
                  <a:tcPr anchor="ctr">
                    <a:solidFill>
                      <a:srgbClr val="0E1525"/>
                    </a:solidFill>
                  </a:tcPr>
                </a:tc>
                <a:tc>
                  <a:txBody>
                    <a:bodyPr/>
                    <a:lstStyle/>
                    <a:p>
                      <a:pPr algn="ctr"/>
                      <a:r>
                        <a:rPr lang="de-DE" sz="1400" dirty="0">
                          <a:solidFill>
                            <a:srgbClr val="C8D0DC"/>
                          </a:solidFill>
                          <a:latin typeface="Inter"/>
                        </a:rPr>
                        <a:t>12-24 Monate</a:t>
                      </a:r>
                    </a:p>
                  </a:txBody>
                  <a:tcPr anchor="ctr">
                    <a:solidFill>
                      <a:srgbClr val="0E1525"/>
                    </a:solidFill>
                  </a:tcPr>
                </a:tc>
                <a:tc>
                  <a:txBody>
                    <a:bodyPr/>
                    <a:lstStyle/>
                    <a:p>
                      <a:pPr algn="ctr"/>
                      <a:r>
                        <a:rPr lang="de-DE" sz="1400" dirty="0">
                          <a:solidFill>
                            <a:srgbClr val="C8D0DC"/>
                          </a:solidFill>
                          <a:latin typeface="Inter"/>
                        </a:rPr>
                        <a:t>10-20 Beratertage</a:t>
                      </a:r>
                    </a:p>
                  </a:txBody>
                  <a:tcPr anchor="ctr">
                    <a:solidFill>
                      <a:srgbClr val="0E1525"/>
                    </a:solidFill>
                  </a:tcPr>
                </a:tc>
                <a:tc>
                  <a:txBody>
                    <a:bodyPr/>
                    <a:lstStyle/>
                    <a:p>
                      <a:pPr algn="ctr"/>
                      <a:r>
                        <a:rPr lang="de-DE" sz="1400" b="1" dirty="0">
                          <a:solidFill>
                            <a:srgbClr val="00C896"/>
                          </a:solidFill>
                          <a:latin typeface="Inter"/>
                        </a:rPr>
                        <a:t>ab 16.000 €</a:t>
                      </a:r>
                    </a:p>
                  </a:txBody>
                  <a:tcPr anchor="ctr">
                    <a:solidFill>
                      <a:srgbClr val="0E1525"/>
                    </a:solidFill>
                  </a:tcPr>
                </a:tc>
                <a:extLst>
                  <a:ext uri="{0D108BD9-81ED-4DB2-BD59-A6C34878D82A}">
                    <a16:rowId xmlns:a16="http://schemas.microsoft.com/office/drawing/2014/main" val="4213137417"/>
                  </a:ext>
                </a:extLst>
              </a:tr>
            </a:tbl>
          </a:graphicData>
        </a:graphic>
      </p:graphicFrame>
      <p:grpSp>
        <p:nvGrpSpPr>
          <p:cNvPr id="3" name="Gruppieren 2">
            <a:extLst>
              <a:ext uri="{FF2B5EF4-FFF2-40B4-BE49-F238E27FC236}">
                <a16:creationId xmlns:a16="http://schemas.microsoft.com/office/drawing/2014/main" id="{9065FCA5-AFCA-3BDB-0BED-337EB9F0E2F7}"/>
              </a:ext>
            </a:extLst>
          </p:cNvPr>
          <p:cNvGrpSpPr/>
          <p:nvPr/>
        </p:nvGrpSpPr>
        <p:grpSpPr>
          <a:xfrm>
            <a:off x="723900" y="2658359"/>
            <a:ext cx="10744200" cy="3017494"/>
            <a:chOff x="723900" y="2658359"/>
            <a:chExt cx="10744200" cy="3017494"/>
          </a:xfrm>
        </p:grpSpPr>
        <p:sp>
          <p:nvSpPr>
            <p:cNvPr id="5" name="Abgerundetes Rechteck 4">
              <a:extLst>
                <a:ext uri="{FF2B5EF4-FFF2-40B4-BE49-F238E27FC236}">
                  <a16:creationId xmlns:a16="http://schemas.microsoft.com/office/drawing/2014/main" id="{8392DAB7-4713-1444-9072-67ABBA4267D6}"/>
                </a:ext>
              </a:extLst>
            </p:cNvPr>
            <p:cNvSpPr/>
            <p:nvPr/>
          </p:nvSpPr>
          <p:spPr>
            <a:xfrm>
              <a:off x="723900" y="2658359"/>
              <a:ext cx="10744200" cy="3017494"/>
            </a:xfrm>
            <a:prstGeom prst="roundRect">
              <a:avLst>
                <a:gd name="adj" fmla="val 4796"/>
              </a:avLst>
            </a:prstGeom>
            <a:noFill/>
            <a:ln w="19050" cap="flat" cmpd="sng" algn="ctr">
              <a:solidFill>
                <a:srgbClr val="F59E0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DE"/>
            </a:p>
          </p:txBody>
        </p:sp>
        <p:sp>
          <p:nvSpPr>
            <p:cNvPr id="6" name="Textfeld 5">
              <a:extLst>
                <a:ext uri="{FF2B5EF4-FFF2-40B4-BE49-F238E27FC236}">
                  <a16:creationId xmlns:a16="http://schemas.microsoft.com/office/drawing/2014/main" id="{B8D73EC6-292A-B640-88D5-C77C11C1C50A}"/>
                </a:ext>
              </a:extLst>
            </p:cNvPr>
            <p:cNvSpPr txBox="1"/>
            <p:nvPr/>
          </p:nvSpPr>
          <p:spPr>
            <a:xfrm>
              <a:off x="952500" y="4761453"/>
              <a:ext cx="5080000" cy="355600"/>
            </a:xfrm>
            <a:prstGeom prst="rect">
              <a:avLst/>
            </a:prstGeom>
            <a:noFill/>
          </p:spPr>
          <p:txBody>
            <a:bodyPr vertOverflow="overflow" vert="horz" wrap="square" rtlCol="0" anchor="t">
              <a:spAutoFit/>
            </a:bodyPr>
            <a:lstStyle/>
            <a:p>
              <a:pPr algn="l"/>
              <a:r>
                <a:rPr lang="de-DE" sz="1600" b="1" dirty="0">
                  <a:solidFill>
                    <a:srgbClr val="F59E0B"/>
                  </a:solidFill>
                </a:rPr>
                <a:t>Inkubationsprogramm (Komplettpaket)</a:t>
              </a:r>
            </a:p>
          </p:txBody>
        </p:sp>
        <p:sp>
          <p:nvSpPr>
            <p:cNvPr id="7" name="Textfeld 6">
              <a:extLst>
                <a:ext uri="{FF2B5EF4-FFF2-40B4-BE49-F238E27FC236}">
                  <a16:creationId xmlns:a16="http://schemas.microsoft.com/office/drawing/2014/main" id="{6D2369D7-8DFF-DB41-9D98-ABD94AE8272D}"/>
                </a:ext>
              </a:extLst>
            </p:cNvPr>
            <p:cNvSpPr txBox="1"/>
            <p:nvPr/>
          </p:nvSpPr>
          <p:spPr>
            <a:xfrm>
              <a:off x="952500" y="5104353"/>
              <a:ext cx="8890000" cy="307777"/>
            </a:xfrm>
            <a:prstGeom prst="rect">
              <a:avLst/>
            </a:prstGeom>
            <a:noFill/>
          </p:spPr>
          <p:txBody>
            <a:bodyPr vertOverflow="overflow" vert="horz" wrap="square" rtlCol="0" anchor="t">
              <a:spAutoFit/>
            </a:bodyPr>
            <a:lstStyle/>
            <a:p>
              <a:pPr algn="l"/>
              <a:r>
                <a:rPr lang="de-DE" sz="1400" dirty="0">
                  <a:solidFill>
                    <a:srgbClr val="C8D0DC"/>
                  </a:solidFill>
                </a:rPr>
                <a:t>Strategie + </a:t>
              </a:r>
              <a:r>
                <a:rPr lang="de-DE" sz="1400" dirty="0" err="1">
                  <a:solidFill>
                    <a:srgbClr val="C8D0DC"/>
                  </a:solidFill>
                </a:rPr>
                <a:t>Prototyping</a:t>
              </a:r>
              <a:r>
                <a:rPr lang="de-DE" sz="1400" dirty="0">
                  <a:solidFill>
                    <a:srgbClr val="C8D0DC"/>
                  </a:solidFill>
                </a:rPr>
                <a:t> + Go-</a:t>
              </a:r>
              <a:r>
                <a:rPr lang="de-DE" sz="1400" dirty="0" err="1">
                  <a:solidFill>
                    <a:srgbClr val="C8D0DC"/>
                  </a:solidFill>
                </a:rPr>
                <a:t>to</a:t>
              </a:r>
              <a:r>
                <a:rPr lang="de-DE" sz="1400" dirty="0">
                  <a:solidFill>
                    <a:srgbClr val="C8D0DC"/>
                  </a:solidFill>
                </a:rPr>
                <a:t>-Market als durchgängiges Programm - 15% Nachlass.</a:t>
              </a:r>
            </a:p>
          </p:txBody>
        </p:sp>
      </p:grpSp>
      <p:sp>
        <p:nvSpPr>
          <p:cNvPr id="8" name="Textfeld 7">
            <a:extLst>
              <a:ext uri="{FF2B5EF4-FFF2-40B4-BE49-F238E27FC236}">
                <a16:creationId xmlns:a16="http://schemas.microsoft.com/office/drawing/2014/main" id="{97F28B54-11EE-8541-A4EA-38DFA11E055D}"/>
              </a:ext>
            </a:extLst>
          </p:cNvPr>
          <p:cNvSpPr txBox="1"/>
          <p:nvPr/>
        </p:nvSpPr>
        <p:spPr>
          <a:xfrm>
            <a:off x="723900" y="5828253"/>
            <a:ext cx="10744200" cy="381000"/>
          </a:xfrm>
          <a:prstGeom prst="rect">
            <a:avLst/>
          </a:prstGeom>
          <a:noFill/>
        </p:spPr>
        <p:txBody>
          <a:bodyPr vertOverflow="overflow" vert="horz" wrap="square" rtlCol="0" anchor="t">
            <a:spAutoFit/>
          </a:bodyPr>
          <a:lstStyle/>
          <a:p>
            <a:pPr algn="l"/>
            <a:r>
              <a:rPr lang="de-DE" sz="1400" dirty="0">
                <a:solidFill>
                  <a:srgbClr val="5A6478"/>
                </a:solidFill>
              </a:rPr>
              <a:t>Alle Preise zzgl. MwSt. Individuelle Angebote nach kostenlosem Erstgespräch. | Kontakt: ei2.group</a:t>
            </a:r>
          </a:p>
        </p:txBody>
      </p:sp>
    </p:spTree>
    <p:extLst>
      <p:ext uri="{BB962C8B-B14F-4D97-AF65-F5344CB8AC3E}">
        <p14:creationId xmlns:p14="http://schemas.microsoft.com/office/powerpoint/2010/main" val="2959582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1775685924017]">
  <a:themeElements>
    <a:clrScheme name="EI2 Ecopolis">
      <a:dk1>
        <a:srgbClr val="E8ECF1"/>
      </a:dk1>
      <a:lt1>
        <a:srgbClr val="0B1120"/>
      </a:lt1>
      <a:dk2>
        <a:srgbClr val="0B1120"/>
      </a:dk2>
      <a:lt2>
        <a:srgbClr val="131B2E"/>
      </a:lt2>
      <a:accent1>
        <a:srgbClr val="00C896"/>
      </a:accent1>
      <a:accent2>
        <a:srgbClr val="0EA5E9"/>
      </a:accent2>
      <a:accent3>
        <a:srgbClr val="8B5CF6"/>
      </a:accent3>
      <a:accent4>
        <a:srgbClr val="F59E0B"/>
      </a:accent4>
      <a:accent5>
        <a:srgbClr val="EF4444"/>
      </a:accent5>
      <a:accent6>
        <a:srgbClr val="06B6D4"/>
      </a:accent6>
      <a:hlink>
        <a:srgbClr val="467886"/>
      </a:hlink>
      <a:folHlink>
        <a:srgbClr val="96607D"/>
      </a:folHlink>
    </a:clrScheme>
    <a:fontScheme name="EI2 Fonts">
      <a:majorFont>
        <a:latin typeface="Montserra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C9DCD0F-94A0-6747-922D-D16D3BEEA3DB}">
  <we:reference id="f5f369e5-aa35-49d7-ad7b-638152ddb008" version="1.0.0.1" store="EXCatalog" storeType="EXCatalog"/>
  <we:alternateReferences>
    <we:reference id="WA200010001" version="1.0.0.1" store="de-DE" storeType="OMEX"/>
  </we:alternateReferences>
  <we:properties>
    <we:property name="claude.fileId" value="&quot;1f82f1d0-9435-4841-878f-4c65ce31b2ac&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1387</Words>
  <Application>Microsoft Macintosh PowerPoint</Application>
  <PresentationFormat>Breitbild</PresentationFormat>
  <Paragraphs>145</Paragraphs>
  <Slides>9</Slides>
  <Notes>9</Notes>
  <HiddenSlides>1</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9</vt:i4>
      </vt:variant>
    </vt:vector>
  </HeadingPairs>
  <TitlesOfParts>
    <vt:vector size="14" baseType="lpstr">
      <vt:lpstr>Aptos</vt:lpstr>
      <vt:lpstr>Arial</vt:lpstr>
      <vt:lpstr>Inter</vt:lpstr>
      <vt:lpstr>Montserrat</vt:lpstr>
      <vt:lpstr>Office [1775685924017]</vt:lpstr>
      <vt:lpstr>KI-Beratung &amp; Inkubation</vt:lpstr>
      <vt:lpstr>Ecopolis Incubator Initative</vt:lpstr>
      <vt:lpstr>Leistungen</vt:lpstr>
      <vt:lpstr>KI-Strategieberatung</vt:lpstr>
      <vt:lpstr>Go-to-Market Beratung</vt:lpstr>
      <vt:lpstr>Software-Prototyping</vt:lpstr>
      <vt:lpstr>Unternehmensaufbau</vt:lpstr>
      <vt:lpstr>Von der Idee zum Unternehmen</vt:lpstr>
      <vt:lpstr>Kosten &amp; Aufwände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Michael Deubzer</dc:creator>
  <cp:lastModifiedBy>Dr. Michael Deubzer</cp:lastModifiedBy>
  <cp:revision>9</cp:revision>
  <dcterms:created xsi:type="dcterms:W3CDTF">2026-04-08T21:33:26Z</dcterms:created>
  <dcterms:modified xsi:type="dcterms:W3CDTF">2026-04-17T01:10:06Z</dcterms:modified>
</cp:coreProperties>
</file>